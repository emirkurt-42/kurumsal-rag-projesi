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8" d="100"/>
          <a:sy n="78" d="100"/>
        </p:scale>
        <p:origin x="27"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919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Herkese merhaba, ben Arda. Data ekibindeyim ve staj boyunca Konya Veri Toplama servisi üzerinde çalıştım. Kısaca: Konya Büyükşehir Belediyesi'ne bağlı kurumsal ve haber sitelerinden düzenli veri çeken, temizleyen ve bu veriyle soru cevaplayabilen bir sistem kurdum.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Huna'nın ileride Konya'ya özel, güncel bir veri kaynağına ihtiyacı olacak. Kurumsal siteler ve haber siteleri dağınık, formatsız; elle takip edilemez. Ben bunu bağımsız ama Huna RAG'a kolayca beslenebilecek şekilde tasarladım — hem öğrenmek hem de hazır bir kaynak bırakmak için.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cümleyle: 7 farklı kaynaktan veri çeken, tekilleştiren, günlük otomatik çalışan ve bu veriyle soru cevaplayan uçtan uca bir sistem kurdum. Dört ana parça var: kaynak adaptörleri, tekilleştirme, günlük servis, ve RAG tabanlı soru-cevap. Her birini kısaca anlatacağım.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Akış şu şekilde: kaynak siteler önce site-özel bir adapter ile çekiliyor, Trafilatura ile temizleniyor, hash ile tekilleştiriliyor, .md dosyası olarak depoya yazılıyor ve vektör indekse ekleniyor. Soru-cevap tarafında ise kullanıcı Next.js arayüzünden soru soruyor, FastAPI üzerinden aynı vektör indekste arama yapılıyor, sonuçlar LLM'e veriliyor ve kaynaklı bir cevap dönüyor.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Teknik olarak Clean Architecture kullandım — domain, application, infrastructure katmanları net ayrıldı, üç ana use-case var: FetchNewsUseCase haber/içerik çekiyor, BuildIndexUseCase vektör indeksi kuruyor, AnswerQuestionUseCase soruyu cevaplıyor. Bunu seçtim çünkü sistemin bir yarısı, yani scraper mantığı, sürekli değişiyor; diğer yarısı, soru-cevap, stabil kalmalıydı — katmanları ayırınca bir kaynağın HTML yapısı değişse bile indeksleme veya soru-cevap kodu hiç etkilenmiyor. Python + Trafilatura ile temizlik yapıyorum çünkü kaynaklarımın hepsi sunucu tarafında render ediliyor, JavaScript çalıştırmama gerek yok — Selenium gibi ağır bir araç gereksiz olurdu. ChromaDB + çok dilli bir embedding modeli kullanıyorum çünkü Türkçe metni native destekliyor, hafif ve hızlı. İç ağdaki LLM ucuna OpenAI-uyumlu bir istemci ile bağlanıyorum çünkü veri dışarı çıkmıyor, bu bir güvenlik gereksinimi. Zamanlama için Python'ın schedule kütüphanesini kullandım çünkü platformdan bağımsız, tek Python sürecinde kalıyor, ayrı bir işletim sistemi görevi kurmaya gerek kalmıyor. Bir önemli karar: yol haritasında JSONL öneriliyordu ama ekiple konuşup .md + YAML frontmatter'da kalmaya karar verdik — hem insan tarafından okunabilir hem gerektiğinde JSONL'e kolayca çevrilebilir. Slaytların altında her kararın kısa gerekçesini de yazdım, unutursam diye.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gerçek zorluktan bahsedeceğim. Birincisi: KOMEK'in onlarca farklı 'kayıt' duyurusu var — yaz okulu, çeşitli kurslar. 'Komek kayıt tarihi ne zaman' gibi genel bir soru sorulduğunda arama bazen yanlış makaleyi öne çıkarabiliyor. Bunu canlı olarak da yakaladım. Çözümü: arama kalitesini recall@5 ile ölçüp chunk boyutunu optimize edeceğim — bu zaten planlı bir iş. İkincisi: KOMEK sitesi ilginç bir davranış sergiliyor — geçersiz bir haber ID'sinde hata vermiyor, hep aynı sahte sayfaya yönlendiriyor. Yani HTTP durum koduna güvenemezsiniz. Ben bunu içerik hash'iyle yakalıyorum: aynı hash tekrar görülürse geçersiz ID'ye gelinmiş demektir. Son işlenen ID'yi de bir durum dosyasında tutuyorum, böylece bir sonraki çalıştırma kaldığı yerden devam ediyor.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Şimdi gerçek sistemi göstereceğim, iki parça halinde. Önce canlı bir veri çekme çalıştırıp ortaya çıkan .md dosyasını göstereceğim. Sonra Next.js arayüzünden bir soru soracağım, arka planda FastAPI üzerinden vektör aramaya gidecek, LLM kaynaklı bir cevap üretecek.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Dürüstçe nerede olduğumuzu paylaşayım. Bitenler: 7 kaynağın 8'i tamam (Mevlana/turizm sayfaları hariç), tekilleştirme ve günlük servis çalışıyor, RAG soru-cevap ve demo arayüz çalışıyor, Türkçe normalizasyon kütüphanesini TDD ile yazdım — 46 test geçiyor, ve kurulum için README hazırladım. Eksikler: turizm sayfaları adapter'ı yok, arama kalitesi ölçümü henüz yapılmadı, normalizasyon henüz aramaya bağlanmadı. Ayrıca bilinen bir risk var: geçmişte yanlışlıkla commit edilmiş bir API anahtarı var — bunu ekiple konuştuk, iptal ve git geçmişi temizliği planlı bir sonraki adım.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Zamanım veya imkânım daha olsa şunları yapardım: arama kalitesini ölçüp iyileştirmek, normalizasyonu aramaya bağlamak, eksik kaynağı eklemek, .env geçmişini temizlemek, ve son olarak devir dokümanını yazmak — Huna RAG'a nasıl besleneceğini anlatan bir not dahil.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kadar, dinlediğiniz için teşekkürler. Sorularınızı alabilirim.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2"/>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082C48"/>
          </a:solidFill>
          <a:ln/>
        </p:spPr>
        <p:txBody>
          <a:bodyPr/>
          <a:lstStyle/>
          <a:p>
            <a:endParaRPr lang="tr-TR"/>
          </a:p>
        </p:txBody>
      </p:sp>
      <p:sp>
        <p:nvSpPr>
          <p:cNvPr id="3" name="Shape 1"/>
          <p:cNvSpPr/>
          <p:nvPr/>
        </p:nvSpPr>
        <p:spPr>
          <a:xfrm>
            <a:off x="-2286000" y="4754880"/>
            <a:ext cx="4572000" cy="4572000"/>
          </a:xfrm>
          <a:prstGeom prst="ellipse">
            <a:avLst/>
          </a:prstGeom>
          <a:solidFill>
            <a:srgbClr val="082C48"/>
          </a:solidFill>
          <a:ln/>
        </p:spPr>
        <p:txBody>
          <a:bodyPr/>
          <a:lstStyle/>
          <a:p>
            <a:endParaRPr lang="tr-TR"/>
          </a:p>
        </p:txBody>
      </p:sp>
      <p:sp>
        <p:nvSpPr>
          <p:cNvPr id="4" name="Text 2"/>
          <p:cNvSpPr/>
          <p:nvPr/>
        </p:nvSpPr>
        <p:spPr>
          <a:xfrm>
            <a:off x="548640" y="1371600"/>
            <a:ext cx="11091672" cy="365760"/>
          </a:xfrm>
          <a:prstGeom prst="rect">
            <a:avLst/>
          </a:prstGeom>
          <a:noFill/>
          <a:ln/>
        </p:spPr>
        <p:txBody>
          <a:bodyPr wrap="square" rtlCol="0" anchor="ctr"/>
          <a:lstStyle/>
          <a:p>
            <a:pPr marL="0" indent="0">
              <a:buNone/>
            </a:pPr>
            <a:r>
              <a:rPr lang="en-US" sz="1300" kern="0" spc="200" dirty="0">
                <a:solidFill>
                  <a:srgbClr val="9FC3DA"/>
                </a:solidFill>
                <a:latin typeface="Calibri" pitchFamily="34" charset="0"/>
                <a:ea typeface="Calibri" pitchFamily="34" charset="-122"/>
                <a:cs typeface="Calibri" pitchFamily="34" charset="-120"/>
              </a:rPr>
              <a:t>KONYA BÜYÜKŞEHİR BELEDİYESİ  ·  YAPAY ZEKÂ PLATFORMU</a:t>
            </a:r>
            <a:endParaRPr lang="en-US" sz="1300" dirty="0"/>
          </a:p>
        </p:txBody>
      </p:sp>
      <p:sp>
        <p:nvSpPr>
          <p:cNvPr id="5" name="Text 3"/>
          <p:cNvSpPr/>
          <p:nvPr/>
        </p:nvSpPr>
        <p:spPr>
          <a:xfrm>
            <a:off x="548640" y="1828800"/>
            <a:ext cx="11091672" cy="100584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Konya Veri Toplama</a:t>
            </a:r>
            <a:endParaRPr lang="en-US" sz="4800" dirty="0"/>
          </a:p>
        </p:txBody>
      </p:sp>
      <p:sp>
        <p:nvSpPr>
          <p:cNvPr id="6" name="Text 4"/>
          <p:cNvSpPr/>
          <p:nvPr/>
        </p:nvSpPr>
        <p:spPr>
          <a:xfrm>
            <a:off x="548640" y="2788920"/>
            <a:ext cx="11091672" cy="548640"/>
          </a:xfrm>
          <a:prstGeom prst="rect">
            <a:avLst/>
          </a:prstGeom>
          <a:noFill/>
          <a:ln/>
        </p:spPr>
        <p:txBody>
          <a:bodyPr wrap="square" rtlCol="0" anchor="ctr"/>
          <a:lstStyle/>
          <a:p>
            <a:pPr marL="0" indent="0">
              <a:buNone/>
            </a:pPr>
            <a:r>
              <a:rPr lang="en-US" sz="2200" dirty="0">
                <a:solidFill>
                  <a:srgbClr val="F2A541"/>
                </a:solidFill>
                <a:latin typeface="Calibri" pitchFamily="34" charset="0"/>
                <a:ea typeface="Calibri" pitchFamily="34" charset="-122"/>
                <a:cs typeface="Calibri" pitchFamily="34" charset="-120"/>
              </a:rPr>
              <a:t>Veri Çekme ve İndeksleme Servisi</a:t>
            </a:r>
            <a:endParaRPr lang="en-US" sz="2200" dirty="0"/>
          </a:p>
        </p:txBody>
      </p:sp>
      <p:sp>
        <p:nvSpPr>
          <p:cNvPr id="7" name="Text 5"/>
          <p:cNvSpPr/>
          <p:nvPr/>
        </p:nvSpPr>
        <p:spPr>
          <a:xfrm>
            <a:off x="548640" y="3520440"/>
            <a:ext cx="8046720" cy="822960"/>
          </a:xfrm>
          <a:prstGeom prst="rect">
            <a:avLst/>
          </a:prstGeom>
          <a:noFill/>
          <a:ln/>
        </p:spPr>
        <p:txBody>
          <a:bodyPr wrap="square" rtlCol="0" anchor="t"/>
          <a:lstStyle/>
          <a:p>
            <a:pPr marL="0" indent="0">
              <a:buNone/>
            </a:pPr>
            <a:r>
              <a:rPr lang="en-US" sz="1500" dirty="0">
                <a:solidFill>
                  <a:srgbClr val="CADCFC"/>
                </a:solidFill>
                <a:latin typeface="Calibri" pitchFamily="34" charset="0"/>
                <a:ea typeface="Calibri" pitchFamily="34" charset="-122"/>
                <a:cs typeface="Calibri" pitchFamily="34" charset="-120"/>
              </a:rPr>
              <a:t>Konya'ya dair kurumsal ve haber kaynaklarından günlük, temiz, tekilleştirilmiş bir veri seti üreten ve bu veriyle soru cevaplayan sistem.</a:t>
            </a:r>
            <a:endParaRPr lang="en-US" sz="1500" dirty="0"/>
          </a:p>
        </p:txBody>
      </p:sp>
      <p:sp>
        <p:nvSpPr>
          <p:cNvPr id="8" name="Text 6"/>
          <p:cNvSpPr/>
          <p:nvPr/>
        </p:nvSpPr>
        <p:spPr>
          <a:xfrm>
            <a:off x="548640" y="5989320"/>
            <a:ext cx="11091672" cy="365760"/>
          </a:xfrm>
          <a:prstGeom prst="rect">
            <a:avLst/>
          </a:prstGeom>
          <a:noFill/>
          <a:ln/>
        </p:spPr>
        <p:txBody>
          <a:bodyPr wrap="square" rtlCol="0" anchor="ctr"/>
          <a:lstStyle/>
          <a:p>
            <a:pPr marL="0" indent="0">
              <a:buNone/>
            </a:pPr>
            <a:r>
              <a:rPr lang="en-US" sz="1300" dirty="0">
                <a:solidFill>
                  <a:srgbClr val="9FC3DA"/>
                </a:solidFill>
                <a:latin typeface="Calibri" pitchFamily="34" charset="0"/>
                <a:ea typeface="Calibri" pitchFamily="34" charset="-122"/>
                <a:cs typeface="Calibri" pitchFamily="34" charset="-120"/>
              </a:rPr>
              <a:t>Arda Çetin  ·  Data Ekibi  ·  2</a:t>
            </a:r>
            <a:r>
              <a:rPr lang="tr-TR" sz="1300" dirty="0">
                <a:solidFill>
                  <a:srgbClr val="9FC3DA"/>
                </a:solidFill>
                <a:latin typeface="Calibri" pitchFamily="34" charset="0"/>
                <a:ea typeface="Calibri" pitchFamily="34" charset="-122"/>
                <a:cs typeface="Calibri" pitchFamily="34" charset="-120"/>
              </a:rPr>
              <a:t>3</a:t>
            </a:r>
            <a:r>
              <a:rPr lang="en-US" sz="1300" dirty="0">
                <a:solidFill>
                  <a:srgbClr val="9FC3DA"/>
                </a:solidFill>
                <a:latin typeface="Calibri" pitchFamily="34" charset="0"/>
                <a:ea typeface="Calibri" pitchFamily="34" charset="-122"/>
                <a:cs typeface="Calibri" pitchFamily="34" charset="-120"/>
              </a:rPr>
              <a:t> Temmuz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731520" cy="731520"/>
          </a:xfrm>
          <a:prstGeom prst="ellipse">
            <a:avLst/>
          </a:prstGeom>
          <a:solidFill>
            <a:srgbClr val="1C7293"/>
          </a:solidFill>
          <a:ln/>
        </p:spPr>
        <p:txBody>
          <a:bodyPr/>
          <a:lstStyle/>
          <a:p>
            <a:endParaRPr lang="tr-TR"/>
          </a:p>
        </p:txBody>
      </p:sp>
      <p:pic>
        <p:nvPicPr>
          <p:cNvPr id="3" name="Image 0" descr="C:\Users\42ard\AppData\Local\Temp\claude\C--Users-42ard-OneDrive-Masa-st--kbbveri\4d2e7f34-33f2-41f4-86bc-c8fc0f9f0b96\scratchpad\sunum\icons\bullseye.png"/>
          <p:cNvPicPr>
            <a:picLocks noChangeAspect="1"/>
          </p:cNvPicPr>
          <p:nvPr/>
        </p:nvPicPr>
        <p:blipFill>
          <a:blip r:embed="rId3"/>
          <a:stretch>
            <a:fillRect/>
          </a:stretch>
        </p:blipFill>
        <p:spPr>
          <a:xfrm>
            <a:off x="724205" y="495605"/>
            <a:ext cx="380390" cy="380390"/>
          </a:xfrm>
          <a:prstGeom prst="rect">
            <a:avLst/>
          </a:prstGeom>
        </p:spPr>
      </p:pic>
      <p:sp>
        <p:nvSpPr>
          <p:cNvPr id="4" name="Text 1"/>
          <p:cNvSpPr/>
          <p:nvPr/>
        </p:nvSpPr>
        <p:spPr>
          <a:xfrm>
            <a:off x="1417320" y="384048"/>
            <a:ext cx="10222992" cy="603504"/>
          </a:xfrm>
          <a:prstGeom prst="rect">
            <a:avLst/>
          </a:prstGeom>
          <a:noFill/>
          <a:ln/>
        </p:spPr>
        <p:txBody>
          <a:bodyPr wrap="square" rtlCol="0" anchor="ctr"/>
          <a:lstStyle/>
          <a:p>
            <a:pPr marL="0" indent="0">
              <a:buNone/>
            </a:pPr>
            <a:r>
              <a:rPr lang="en-US" sz="3200" b="1" dirty="0">
                <a:solidFill>
                  <a:srgbClr val="0B3D62"/>
                </a:solidFill>
                <a:latin typeface="Cambria" pitchFamily="34" charset="0"/>
                <a:ea typeface="Cambria" pitchFamily="34" charset="-122"/>
                <a:cs typeface="Cambria" pitchFamily="34" charset="-120"/>
              </a:rPr>
              <a:t>Problem / Amaç</a:t>
            </a:r>
            <a:endParaRPr lang="en-US" sz="3200" dirty="0"/>
          </a:p>
        </p:txBody>
      </p:sp>
      <p:sp>
        <p:nvSpPr>
          <p:cNvPr id="5" name="Text 2"/>
          <p:cNvSpPr/>
          <p:nvPr/>
        </p:nvSpPr>
        <p:spPr>
          <a:xfrm>
            <a:off x="548640" y="1600200"/>
            <a:ext cx="11091672" cy="548640"/>
          </a:xfrm>
          <a:prstGeom prst="rect">
            <a:avLst/>
          </a:prstGeom>
          <a:noFill/>
          <a:ln/>
        </p:spPr>
        <p:txBody>
          <a:bodyPr wrap="square" rtlCol="0" anchor="ctr"/>
          <a:lstStyle/>
          <a:p>
            <a:pPr marL="0" indent="0">
              <a:buNone/>
            </a:pPr>
            <a:r>
              <a:rPr lang="en-US" sz="2000" i="1" dirty="0">
                <a:solidFill>
                  <a:srgbClr val="0B3D62"/>
                </a:solidFill>
                <a:latin typeface="Cambria" pitchFamily="34" charset="0"/>
                <a:ea typeface="Cambria" pitchFamily="34" charset="-122"/>
                <a:cs typeface="Cambria" pitchFamily="34" charset="-120"/>
              </a:rPr>
              <a:t>Huna'nın Konya'ya özgü, güncel ve temiz bir veri kaynağına ihtiyacı var.</a:t>
            </a:r>
            <a:endParaRPr lang="en-US" sz="2000" dirty="0"/>
          </a:p>
        </p:txBody>
      </p:sp>
      <p:sp>
        <p:nvSpPr>
          <p:cNvPr id="6" name="Text 3"/>
          <p:cNvSpPr/>
          <p:nvPr/>
        </p:nvSpPr>
        <p:spPr>
          <a:xfrm>
            <a:off x="548640" y="2468880"/>
            <a:ext cx="10177272" cy="2377440"/>
          </a:xfrm>
          <a:prstGeom prst="rect">
            <a:avLst/>
          </a:prstGeom>
          <a:noFill/>
          <a:ln/>
        </p:spPr>
        <p:txBody>
          <a:bodyPr wrap="square" rtlCol="0" anchor="t"/>
          <a:lstStyle/>
          <a:p>
            <a:pPr marL="342900" indent="-342900">
              <a:spcAft>
                <a:spcPts val="1400"/>
              </a:spcAft>
              <a:buSzPct val="100000"/>
              <a:buChar char="•"/>
            </a:pPr>
            <a:r>
              <a:rPr lang="en-US" sz="1600" dirty="0">
                <a:solidFill>
                  <a:srgbClr val="1A2733"/>
                </a:solidFill>
                <a:latin typeface="Calibri" pitchFamily="34" charset="0"/>
                <a:ea typeface="Calibri" pitchFamily="34" charset="-122"/>
                <a:cs typeface="Calibri" pitchFamily="34" charset="-120"/>
              </a:rPr>
              <a:t>Kurumsal ve haber siteleri dağınık, formatsız ve tekrar eden içerik barındırıyor.</a:t>
            </a:r>
            <a:endParaRPr lang="en-US" sz="1600" dirty="0"/>
          </a:p>
          <a:p>
            <a:pPr marL="342900" indent="-342900">
              <a:spcAft>
                <a:spcPts val="1400"/>
              </a:spcAft>
              <a:buSzPct val="100000"/>
              <a:buChar char="•"/>
            </a:pPr>
            <a:r>
              <a:rPr lang="en-US" sz="1600" dirty="0">
                <a:solidFill>
                  <a:srgbClr val="1A2733"/>
                </a:solidFill>
                <a:latin typeface="Calibri" pitchFamily="34" charset="0"/>
                <a:ea typeface="Calibri" pitchFamily="34" charset="-122"/>
                <a:cs typeface="Calibri" pitchFamily="34" charset="-120"/>
              </a:rPr>
              <a:t>Elle takip edilemeyecek kadar çok kaynak ve sık güncelleme var.</a:t>
            </a:r>
            <a:endParaRPr lang="en-US" sz="1600" dirty="0"/>
          </a:p>
          <a:p>
            <a:pPr marL="342900" indent="-342900">
              <a:spcAft>
                <a:spcPts val="1400"/>
              </a:spcAft>
              <a:buSzPct val="100000"/>
              <a:buChar char="•"/>
            </a:pPr>
            <a:r>
              <a:rPr lang="en-US" sz="1600" dirty="0">
                <a:solidFill>
                  <a:srgbClr val="1A2733"/>
                </a:solidFill>
                <a:latin typeface="Calibri" pitchFamily="34" charset="0"/>
                <a:ea typeface="Calibri" pitchFamily="34" charset="-122"/>
                <a:cs typeface="Calibri" pitchFamily="34" charset="-120"/>
              </a:rPr>
              <a:t>Hedef: bağımsız çalışan ama ileride Huna RAG'a kolayca beslenebilecek, günlük güncellenen bir veri boru hattı kurmak.</a:t>
            </a:r>
            <a:endParaRPr lang="en-US" sz="1600" dirty="0"/>
          </a:p>
        </p:txBody>
      </p:sp>
      <p:sp>
        <p:nvSpPr>
          <p:cNvPr id="7" name="Shape 4"/>
          <p:cNvSpPr/>
          <p:nvPr/>
        </p:nvSpPr>
        <p:spPr>
          <a:xfrm>
            <a:off x="548640" y="5212080"/>
            <a:ext cx="11091672" cy="1005840"/>
          </a:xfrm>
          <a:prstGeom prst="roundRect">
            <a:avLst>
              <a:gd name="adj" fmla="val 9091"/>
            </a:avLst>
          </a:prstGeom>
          <a:solidFill>
            <a:srgbClr val="F2F6F9"/>
          </a:solidFill>
          <a:ln/>
        </p:spPr>
        <p:txBody>
          <a:bodyPr/>
          <a:lstStyle/>
          <a:p>
            <a:endParaRPr lang="tr-TR"/>
          </a:p>
        </p:txBody>
      </p:sp>
      <p:sp>
        <p:nvSpPr>
          <p:cNvPr id="8" name="Text 5"/>
          <p:cNvSpPr/>
          <p:nvPr/>
        </p:nvSpPr>
        <p:spPr>
          <a:xfrm>
            <a:off x="822960" y="5212080"/>
            <a:ext cx="10543032" cy="1005840"/>
          </a:xfrm>
          <a:prstGeom prst="rect">
            <a:avLst/>
          </a:prstGeom>
          <a:noFill/>
          <a:ln/>
        </p:spPr>
        <p:txBody>
          <a:bodyPr wrap="square" rtlCol="0" anchor="ctr"/>
          <a:lstStyle/>
          <a:p>
            <a:pPr marL="0" indent="0">
              <a:buNone/>
            </a:pPr>
            <a:r>
              <a:rPr lang="en-US" sz="1450" b="1" dirty="0">
                <a:solidFill>
                  <a:srgbClr val="0B3D62"/>
                </a:solidFill>
                <a:latin typeface="Calibri" pitchFamily="34" charset="0"/>
                <a:ea typeface="Calibri" pitchFamily="34" charset="-122"/>
                <a:cs typeface="Calibri" pitchFamily="34" charset="-120"/>
              </a:rPr>
              <a:t>İkili hedef:  </a:t>
            </a:r>
            <a:r>
              <a:rPr lang="en-US" sz="1450" dirty="0">
                <a:solidFill>
                  <a:srgbClr val="1A2733"/>
                </a:solidFill>
                <a:latin typeface="Calibri" pitchFamily="34" charset="0"/>
                <a:ea typeface="Calibri" pitchFamily="34" charset="-122"/>
                <a:cs typeface="Calibri" pitchFamily="34" charset="-120"/>
              </a:rPr>
              <a:t>(1) veri çekme / temizleme / servis kurma pratiği kazanmak,  (2) Huna için Konya-güncel bir veri kaynağı bırakmak.</a:t>
            </a:r>
            <a:endParaRPr lang="en-US" sz="1450" dirty="0"/>
          </a:p>
        </p:txBody>
      </p:sp>
      <p:sp>
        <p:nvSpPr>
          <p:cNvPr id="9" name="Text 6"/>
          <p:cNvSpPr/>
          <p:nvPr/>
        </p:nvSpPr>
        <p:spPr>
          <a:xfrm>
            <a:off x="11338560" y="6473952"/>
            <a:ext cx="73152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731520" cy="731520"/>
          </a:xfrm>
          <a:prstGeom prst="ellipse">
            <a:avLst/>
          </a:prstGeom>
          <a:solidFill>
            <a:srgbClr val="1C7293"/>
          </a:solidFill>
          <a:ln/>
        </p:spPr>
        <p:txBody>
          <a:bodyPr/>
          <a:lstStyle/>
          <a:p>
            <a:endParaRPr lang="tr-TR"/>
          </a:p>
        </p:txBody>
      </p:sp>
      <p:pic>
        <p:nvPicPr>
          <p:cNvPr id="3" name="Image 0" descr="C:\Users\42ard\AppData\Local\Temp\claude\C--Users-42ard-OneDrive-Masa-st--kbbveri\4d2e7f34-33f2-41f4-86bc-c8fc0f9f0b96\scratchpad\sunum\icons\flag.png"/>
          <p:cNvPicPr>
            <a:picLocks noChangeAspect="1"/>
          </p:cNvPicPr>
          <p:nvPr/>
        </p:nvPicPr>
        <p:blipFill>
          <a:blip r:embed="rId3"/>
          <a:stretch>
            <a:fillRect/>
          </a:stretch>
        </p:blipFill>
        <p:spPr>
          <a:xfrm>
            <a:off x="724205" y="495605"/>
            <a:ext cx="380390" cy="380390"/>
          </a:xfrm>
          <a:prstGeom prst="rect">
            <a:avLst/>
          </a:prstGeom>
        </p:spPr>
      </p:pic>
      <p:sp>
        <p:nvSpPr>
          <p:cNvPr id="4" name="Text 1"/>
          <p:cNvSpPr/>
          <p:nvPr/>
        </p:nvSpPr>
        <p:spPr>
          <a:xfrm>
            <a:off x="1417320" y="384048"/>
            <a:ext cx="10222992" cy="603504"/>
          </a:xfrm>
          <a:prstGeom prst="rect">
            <a:avLst/>
          </a:prstGeom>
          <a:noFill/>
          <a:ln/>
        </p:spPr>
        <p:txBody>
          <a:bodyPr wrap="square" rtlCol="0" anchor="ctr"/>
          <a:lstStyle/>
          <a:p>
            <a:pPr marL="0" indent="0">
              <a:buNone/>
            </a:pPr>
            <a:r>
              <a:rPr lang="en-US" sz="3200" b="1" dirty="0">
                <a:solidFill>
                  <a:srgbClr val="0B3D62"/>
                </a:solidFill>
                <a:latin typeface="Cambria" pitchFamily="34" charset="0"/>
                <a:ea typeface="Cambria" pitchFamily="34" charset="-122"/>
                <a:cs typeface="Cambria" pitchFamily="34" charset="-120"/>
              </a:rPr>
              <a:t>Ne Yaptım</a:t>
            </a:r>
            <a:endParaRPr lang="en-US" sz="3200" dirty="0"/>
          </a:p>
        </p:txBody>
      </p:sp>
      <p:sp>
        <p:nvSpPr>
          <p:cNvPr id="5" name="Text 2"/>
          <p:cNvSpPr/>
          <p:nvPr/>
        </p:nvSpPr>
        <p:spPr>
          <a:xfrm>
            <a:off x="548640" y="1554480"/>
            <a:ext cx="11091672" cy="640080"/>
          </a:xfrm>
          <a:prstGeom prst="rect">
            <a:avLst/>
          </a:prstGeom>
          <a:noFill/>
          <a:ln/>
        </p:spPr>
        <p:txBody>
          <a:bodyPr wrap="square" rtlCol="0" anchor="t"/>
          <a:lstStyle/>
          <a:p>
            <a:pPr marL="0" indent="0">
              <a:buNone/>
            </a:pPr>
            <a:r>
              <a:rPr lang="en-US" sz="1700" i="1" dirty="0">
                <a:solidFill>
                  <a:srgbClr val="0B3D62"/>
                </a:solidFill>
                <a:latin typeface="Cambria" pitchFamily="34" charset="0"/>
                <a:ea typeface="Cambria" pitchFamily="34" charset="-122"/>
                <a:cs typeface="Cambria" pitchFamily="34" charset="-120"/>
              </a:rPr>
              <a:t>Konya'ya dair 7 kaynaktan veri çeken, tekilleştiren, günlük otomatik çalışan ve bu veriyle soru cevaplayan uçtan uca bir sistem kurdum.</a:t>
            </a:r>
            <a:endParaRPr lang="en-US" sz="1700" dirty="0"/>
          </a:p>
        </p:txBody>
      </p:sp>
      <p:sp>
        <p:nvSpPr>
          <p:cNvPr id="6" name="Shape 3"/>
          <p:cNvSpPr/>
          <p:nvPr/>
        </p:nvSpPr>
        <p:spPr>
          <a:xfrm>
            <a:off x="585216" y="2665476"/>
            <a:ext cx="566928" cy="566928"/>
          </a:xfrm>
          <a:prstGeom prst="ellipse">
            <a:avLst/>
          </a:prstGeom>
          <a:solidFill>
            <a:srgbClr val="1C7293"/>
          </a:solidFill>
          <a:ln/>
        </p:spPr>
        <p:txBody>
          <a:bodyPr/>
          <a:lstStyle/>
          <a:p>
            <a:endParaRPr lang="tr-TR"/>
          </a:p>
        </p:txBody>
      </p:sp>
      <p:pic>
        <p:nvPicPr>
          <p:cNvPr id="7" name="Image 1" descr="C:\Users\42ard\AppData\Local\Temp\claude\C--Users-42ard-OneDrive-Masa-st--kbbveri\4d2e7f34-33f2-41f4-86bc-c8fc0f9f0b96\scratchpad\sunum\icons\globe.png"/>
          <p:cNvPicPr>
            <a:picLocks noChangeAspect="1"/>
          </p:cNvPicPr>
          <p:nvPr/>
        </p:nvPicPr>
        <p:blipFill>
          <a:blip r:embed="rId4"/>
          <a:stretch>
            <a:fillRect/>
          </a:stretch>
        </p:blipFill>
        <p:spPr>
          <a:xfrm>
            <a:off x="721279" y="2801539"/>
            <a:ext cx="294803" cy="294803"/>
          </a:xfrm>
          <a:prstGeom prst="rect">
            <a:avLst/>
          </a:prstGeom>
        </p:spPr>
      </p:pic>
      <p:sp>
        <p:nvSpPr>
          <p:cNvPr id="8" name="Text 4"/>
          <p:cNvSpPr/>
          <p:nvPr/>
        </p:nvSpPr>
        <p:spPr>
          <a:xfrm>
            <a:off x="1325880" y="2514600"/>
            <a:ext cx="10268712" cy="365760"/>
          </a:xfrm>
          <a:prstGeom prst="rect">
            <a:avLst/>
          </a:prstGeom>
          <a:noFill/>
          <a:ln/>
        </p:spPr>
        <p:txBody>
          <a:bodyPr wrap="square" rtlCol="0" anchor="b"/>
          <a:lstStyle/>
          <a:p>
            <a:pPr marL="0" indent="0">
              <a:buNone/>
            </a:pPr>
            <a:r>
              <a:rPr lang="en-US" sz="1550" b="1" dirty="0">
                <a:solidFill>
                  <a:srgbClr val="0B3D62"/>
                </a:solidFill>
                <a:latin typeface="Calibri" pitchFamily="34" charset="0"/>
                <a:ea typeface="Calibri" pitchFamily="34" charset="-122"/>
                <a:cs typeface="Calibri" pitchFamily="34" charset="-120"/>
              </a:rPr>
              <a:t>7 kaynak için ayrı adapter</a:t>
            </a:r>
            <a:endParaRPr lang="en-US" sz="1550" dirty="0"/>
          </a:p>
        </p:txBody>
      </p:sp>
      <p:sp>
        <p:nvSpPr>
          <p:cNvPr id="9" name="Text 5"/>
          <p:cNvSpPr/>
          <p:nvPr/>
        </p:nvSpPr>
        <p:spPr>
          <a:xfrm>
            <a:off x="1325880" y="2880360"/>
            <a:ext cx="10268712" cy="365760"/>
          </a:xfrm>
          <a:prstGeom prst="rect">
            <a:avLst/>
          </a:prstGeom>
          <a:noFill/>
          <a:ln/>
        </p:spPr>
        <p:txBody>
          <a:bodyPr wrap="square" rtlCol="0" anchor="t"/>
          <a:lstStyle/>
          <a:p>
            <a:pPr marL="0" indent="0">
              <a:buNone/>
            </a:pPr>
            <a:r>
              <a:rPr lang="en-US" sz="1250" dirty="0">
                <a:solidFill>
                  <a:srgbClr val="5B6B79"/>
                </a:solidFill>
                <a:latin typeface="Calibri" pitchFamily="34" charset="0"/>
                <a:ea typeface="Calibri" pitchFamily="34" charset="-122"/>
                <a:cs typeface="Calibri" pitchFamily="34" charset="-120"/>
              </a:rPr>
              <a:t>KOMEK, konya.bel.tr, KOSKİ + 4 haber sitesi (Merhaba Haber, Yeni Meram, Konya Haber, Konya Yenigün)</a:t>
            </a:r>
            <a:endParaRPr lang="en-US" sz="1250" dirty="0"/>
          </a:p>
        </p:txBody>
      </p:sp>
      <p:sp>
        <p:nvSpPr>
          <p:cNvPr id="10" name="Shape 6"/>
          <p:cNvSpPr/>
          <p:nvPr/>
        </p:nvSpPr>
        <p:spPr>
          <a:xfrm>
            <a:off x="585216" y="3625596"/>
            <a:ext cx="566928" cy="566928"/>
          </a:xfrm>
          <a:prstGeom prst="ellipse">
            <a:avLst/>
          </a:prstGeom>
          <a:solidFill>
            <a:srgbClr val="1C7293"/>
          </a:solidFill>
          <a:ln/>
        </p:spPr>
        <p:txBody>
          <a:bodyPr/>
          <a:lstStyle/>
          <a:p>
            <a:endParaRPr lang="tr-TR"/>
          </a:p>
        </p:txBody>
      </p:sp>
      <p:pic>
        <p:nvPicPr>
          <p:cNvPr id="11" name="Image 2" descr="C:\Users\42ard\AppData\Local\Temp\claude\C--Users-42ard-OneDrive-Masa-st--kbbveri\4d2e7f34-33f2-41f4-86bc-c8fc0f9f0b96\scratchpad\sunum\icons\copy.png"/>
          <p:cNvPicPr>
            <a:picLocks noChangeAspect="1"/>
          </p:cNvPicPr>
          <p:nvPr/>
        </p:nvPicPr>
        <p:blipFill>
          <a:blip r:embed="rId5"/>
          <a:stretch>
            <a:fillRect/>
          </a:stretch>
        </p:blipFill>
        <p:spPr>
          <a:xfrm>
            <a:off x="721279" y="3761659"/>
            <a:ext cx="294803" cy="294803"/>
          </a:xfrm>
          <a:prstGeom prst="rect">
            <a:avLst/>
          </a:prstGeom>
        </p:spPr>
      </p:pic>
      <p:sp>
        <p:nvSpPr>
          <p:cNvPr id="12" name="Text 7"/>
          <p:cNvSpPr/>
          <p:nvPr/>
        </p:nvSpPr>
        <p:spPr>
          <a:xfrm>
            <a:off x="1325880" y="3474720"/>
            <a:ext cx="10268712" cy="365760"/>
          </a:xfrm>
          <a:prstGeom prst="rect">
            <a:avLst/>
          </a:prstGeom>
          <a:noFill/>
          <a:ln/>
        </p:spPr>
        <p:txBody>
          <a:bodyPr wrap="square" rtlCol="0" anchor="b"/>
          <a:lstStyle/>
          <a:p>
            <a:pPr marL="0" indent="0">
              <a:buNone/>
            </a:pPr>
            <a:r>
              <a:rPr lang="en-US" sz="1550" b="1" dirty="0">
                <a:solidFill>
                  <a:srgbClr val="0B3D62"/>
                </a:solidFill>
                <a:latin typeface="Calibri" pitchFamily="34" charset="0"/>
                <a:ea typeface="Calibri" pitchFamily="34" charset="-122"/>
                <a:cs typeface="Calibri" pitchFamily="34" charset="-120"/>
              </a:rPr>
              <a:t>İçerik hash'i + son-ID takibi ile yeni içerik tespiti</a:t>
            </a:r>
            <a:endParaRPr lang="en-US" sz="1550" dirty="0"/>
          </a:p>
        </p:txBody>
      </p:sp>
      <p:sp>
        <p:nvSpPr>
          <p:cNvPr id="13" name="Text 8"/>
          <p:cNvSpPr/>
          <p:nvPr/>
        </p:nvSpPr>
        <p:spPr>
          <a:xfrm>
            <a:off x="1325880" y="3840480"/>
            <a:ext cx="10268712" cy="365760"/>
          </a:xfrm>
          <a:prstGeom prst="rect">
            <a:avLst/>
          </a:prstGeom>
          <a:noFill/>
          <a:ln/>
        </p:spPr>
        <p:txBody>
          <a:bodyPr wrap="square" rtlCol="0" anchor="t"/>
          <a:lstStyle/>
          <a:p>
            <a:pPr marL="0" indent="0">
              <a:buNone/>
            </a:pPr>
            <a:r>
              <a:rPr lang="en-US" sz="1250" dirty="0">
                <a:solidFill>
                  <a:srgbClr val="5B6B79"/>
                </a:solidFill>
                <a:latin typeface="Calibri" pitchFamily="34" charset="0"/>
                <a:ea typeface="Calibri" pitchFamily="34" charset="-122"/>
                <a:cs typeface="Calibri" pitchFamily="34" charset="-120"/>
              </a:rPr>
              <a:t>Aynı haber iki kez işlenmiyor; bir sonraki çalıştırma kaldığı ID'den devam ediyor</a:t>
            </a:r>
            <a:endParaRPr lang="en-US" sz="1250" dirty="0"/>
          </a:p>
        </p:txBody>
      </p:sp>
      <p:sp>
        <p:nvSpPr>
          <p:cNvPr id="14" name="Shape 9"/>
          <p:cNvSpPr/>
          <p:nvPr/>
        </p:nvSpPr>
        <p:spPr>
          <a:xfrm>
            <a:off x="585216" y="4585716"/>
            <a:ext cx="566928" cy="566928"/>
          </a:xfrm>
          <a:prstGeom prst="ellipse">
            <a:avLst/>
          </a:prstGeom>
          <a:solidFill>
            <a:srgbClr val="1C7293"/>
          </a:solidFill>
          <a:ln/>
        </p:spPr>
        <p:txBody>
          <a:bodyPr/>
          <a:lstStyle/>
          <a:p>
            <a:endParaRPr lang="tr-TR"/>
          </a:p>
        </p:txBody>
      </p:sp>
      <p:pic>
        <p:nvPicPr>
          <p:cNvPr id="15" name="Image 3" descr="C:\Users\42ard\AppData\Local\Temp\claude\C--Users-42ard-OneDrive-Masa-st--kbbveri\4d2e7f34-33f2-41f4-86bc-c8fc0f9f0b96\scratchpad\sunum\icons\clock.png"/>
          <p:cNvPicPr>
            <a:picLocks noChangeAspect="1"/>
          </p:cNvPicPr>
          <p:nvPr/>
        </p:nvPicPr>
        <p:blipFill>
          <a:blip r:embed="rId6"/>
          <a:stretch>
            <a:fillRect/>
          </a:stretch>
        </p:blipFill>
        <p:spPr>
          <a:xfrm>
            <a:off x="721279" y="4721779"/>
            <a:ext cx="294803" cy="294803"/>
          </a:xfrm>
          <a:prstGeom prst="rect">
            <a:avLst/>
          </a:prstGeom>
        </p:spPr>
      </p:pic>
      <p:sp>
        <p:nvSpPr>
          <p:cNvPr id="16" name="Text 10"/>
          <p:cNvSpPr/>
          <p:nvPr/>
        </p:nvSpPr>
        <p:spPr>
          <a:xfrm>
            <a:off x="1325880" y="4434840"/>
            <a:ext cx="10268712" cy="365760"/>
          </a:xfrm>
          <a:prstGeom prst="rect">
            <a:avLst/>
          </a:prstGeom>
          <a:noFill/>
          <a:ln/>
        </p:spPr>
        <p:txBody>
          <a:bodyPr wrap="square" rtlCol="0" anchor="b"/>
          <a:lstStyle/>
          <a:p>
            <a:pPr marL="0" indent="0">
              <a:buNone/>
            </a:pPr>
            <a:r>
              <a:rPr lang="en-US" sz="1550" b="1" dirty="0">
                <a:solidFill>
                  <a:srgbClr val="0B3D62"/>
                </a:solidFill>
                <a:latin typeface="Calibri" pitchFamily="34" charset="0"/>
                <a:ea typeface="Calibri" pitchFamily="34" charset="-122"/>
                <a:cs typeface="Calibri" pitchFamily="34" charset="-120"/>
              </a:rPr>
              <a:t>Günlük otomatik servis</a:t>
            </a:r>
            <a:endParaRPr lang="en-US" sz="1550" dirty="0"/>
          </a:p>
        </p:txBody>
      </p:sp>
      <p:sp>
        <p:nvSpPr>
          <p:cNvPr id="17" name="Text 11"/>
          <p:cNvSpPr/>
          <p:nvPr/>
        </p:nvSpPr>
        <p:spPr>
          <a:xfrm>
            <a:off x="1325880" y="4800600"/>
            <a:ext cx="10268712" cy="365760"/>
          </a:xfrm>
          <a:prstGeom prst="rect">
            <a:avLst/>
          </a:prstGeom>
          <a:noFill/>
          <a:ln/>
        </p:spPr>
        <p:txBody>
          <a:bodyPr wrap="square" rtlCol="0" anchor="t"/>
          <a:lstStyle/>
          <a:p>
            <a:pPr marL="0" indent="0">
              <a:buNone/>
            </a:pPr>
            <a:r>
              <a:rPr lang="en-US" sz="1250" dirty="0">
                <a:solidFill>
                  <a:srgbClr val="5B6B79"/>
                </a:solidFill>
                <a:latin typeface="Calibri" pitchFamily="34" charset="0"/>
                <a:ea typeface="Calibri" pitchFamily="34" charset="-122"/>
                <a:cs typeface="Calibri" pitchFamily="34" charset="-120"/>
              </a:rPr>
              <a:t>Her sabah 08:00'de kendiliğinden çalışır, özet rapor üretir</a:t>
            </a:r>
            <a:endParaRPr lang="en-US" sz="1250" dirty="0"/>
          </a:p>
        </p:txBody>
      </p:sp>
      <p:sp>
        <p:nvSpPr>
          <p:cNvPr id="18" name="Shape 12"/>
          <p:cNvSpPr/>
          <p:nvPr/>
        </p:nvSpPr>
        <p:spPr>
          <a:xfrm>
            <a:off x="585216" y="5545836"/>
            <a:ext cx="566928" cy="566928"/>
          </a:xfrm>
          <a:prstGeom prst="ellipse">
            <a:avLst/>
          </a:prstGeom>
          <a:solidFill>
            <a:srgbClr val="1C7293"/>
          </a:solidFill>
          <a:ln/>
        </p:spPr>
        <p:txBody>
          <a:bodyPr/>
          <a:lstStyle/>
          <a:p>
            <a:endParaRPr lang="tr-TR"/>
          </a:p>
        </p:txBody>
      </p:sp>
      <p:pic>
        <p:nvPicPr>
          <p:cNvPr id="19" name="Image 4" descr="C:\Users\42ard\AppData\Local\Temp\claude\C--Users-42ard-OneDrive-Masa-st--kbbveri\4d2e7f34-33f2-41f4-86bc-c8fc0f9f0b96\scratchpad\sunum\icons\comments.png"/>
          <p:cNvPicPr>
            <a:picLocks noChangeAspect="1"/>
          </p:cNvPicPr>
          <p:nvPr/>
        </p:nvPicPr>
        <p:blipFill>
          <a:blip r:embed="rId7"/>
          <a:stretch>
            <a:fillRect/>
          </a:stretch>
        </p:blipFill>
        <p:spPr>
          <a:xfrm>
            <a:off x="721279" y="5681899"/>
            <a:ext cx="294803" cy="294803"/>
          </a:xfrm>
          <a:prstGeom prst="rect">
            <a:avLst/>
          </a:prstGeom>
        </p:spPr>
      </p:pic>
      <p:sp>
        <p:nvSpPr>
          <p:cNvPr id="20" name="Text 13"/>
          <p:cNvSpPr/>
          <p:nvPr/>
        </p:nvSpPr>
        <p:spPr>
          <a:xfrm>
            <a:off x="1325880" y="5394960"/>
            <a:ext cx="10268712" cy="365760"/>
          </a:xfrm>
          <a:prstGeom prst="rect">
            <a:avLst/>
          </a:prstGeom>
          <a:noFill/>
          <a:ln/>
        </p:spPr>
        <p:txBody>
          <a:bodyPr wrap="square" rtlCol="0" anchor="b"/>
          <a:lstStyle/>
          <a:p>
            <a:pPr marL="0" indent="0">
              <a:buNone/>
            </a:pPr>
            <a:r>
              <a:rPr lang="en-US" sz="1550" b="1" dirty="0">
                <a:solidFill>
                  <a:srgbClr val="0B3D62"/>
                </a:solidFill>
                <a:latin typeface="Calibri" pitchFamily="34" charset="0"/>
                <a:ea typeface="Calibri" pitchFamily="34" charset="-122"/>
                <a:cs typeface="Calibri" pitchFamily="34" charset="-120"/>
              </a:rPr>
              <a:t>Vektör tabanlı soru-cevap (RAG)</a:t>
            </a:r>
            <a:endParaRPr lang="en-US" sz="1550" dirty="0"/>
          </a:p>
        </p:txBody>
      </p:sp>
      <p:sp>
        <p:nvSpPr>
          <p:cNvPr id="21" name="Text 14"/>
          <p:cNvSpPr/>
          <p:nvPr/>
        </p:nvSpPr>
        <p:spPr>
          <a:xfrm>
            <a:off x="1325880" y="5760720"/>
            <a:ext cx="10268712" cy="365760"/>
          </a:xfrm>
          <a:prstGeom prst="rect">
            <a:avLst/>
          </a:prstGeom>
          <a:noFill/>
          <a:ln/>
        </p:spPr>
        <p:txBody>
          <a:bodyPr wrap="square" rtlCol="0" anchor="t"/>
          <a:lstStyle/>
          <a:p>
            <a:pPr marL="0" indent="0">
              <a:buNone/>
            </a:pPr>
            <a:r>
              <a:rPr lang="en-US" sz="1250" dirty="0">
                <a:solidFill>
                  <a:srgbClr val="5B6B79"/>
                </a:solidFill>
                <a:latin typeface="Calibri" pitchFamily="34" charset="0"/>
                <a:ea typeface="Calibri" pitchFamily="34" charset="-122"/>
                <a:cs typeface="Calibri" pitchFamily="34" charset="-120"/>
              </a:rPr>
              <a:t>Kaynaklı cevap üretimi + çalışan bir demo arayüz</a:t>
            </a:r>
            <a:endParaRPr lang="en-US" sz="1250" dirty="0"/>
          </a:p>
        </p:txBody>
      </p:sp>
      <p:sp>
        <p:nvSpPr>
          <p:cNvPr id="22" name="Text 15"/>
          <p:cNvSpPr/>
          <p:nvPr/>
        </p:nvSpPr>
        <p:spPr>
          <a:xfrm>
            <a:off x="11338560" y="6473952"/>
            <a:ext cx="73152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731520" cy="731520"/>
          </a:xfrm>
          <a:prstGeom prst="ellipse">
            <a:avLst/>
          </a:prstGeom>
          <a:solidFill>
            <a:srgbClr val="1C7293"/>
          </a:solidFill>
          <a:ln/>
        </p:spPr>
        <p:txBody>
          <a:bodyPr/>
          <a:lstStyle/>
          <a:p>
            <a:endParaRPr lang="tr-TR"/>
          </a:p>
        </p:txBody>
      </p:sp>
      <p:pic>
        <p:nvPicPr>
          <p:cNvPr id="3" name="Image 0" descr="C:\Users\42ard\AppData\Local\Temp\claude\C--Users-42ard-OneDrive-Masa-st--kbbveri\4d2e7f34-33f2-41f4-86bc-c8fc0f9f0b96\scratchpad\sunum\icons\layers.png"/>
          <p:cNvPicPr>
            <a:picLocks noChangeAspect="1"/>
          </p:cNvPicPr>
          <p:nvPr/>
        </p:nvPicPr>
        <p:blipFill>
          <a:blip r:embed="rId3"/>
          <a:stretch>
            <a:fillRect/>
          </a:stretch>
        </p:blipFill>
        <p:spPr>
          <a:xfrm>
            <a:off x="724205" y="495605"/>
            <a:ext cx="380390" cy="380390"/>
          </a:xfrm>
          <a:prstGeom prst="rect">
            <a:avLst/>
          </a:prstGeom>
        </p:spPr>
      </p:pic>
      <p:sp>
        <p:nvSpPr>
          <p:cNvPr id="4" name="Text 1"/>
          <p:cNvSpPr/>
          <p:nvPr/>
        </p:nvSpPr>
        <p:spPr>
          <a:xfrm>
            <a:off x="1417320" y="384048"/>
            <a:ext cx="10222992" cy="603504"/>
          </a:xfrm>
          <a:prstGeom prst="rect">
            <a:avLst/>
          </a:prstGeom>
          <a:noFill/>
          <a:ln/>
        </p:spPr>
        <p:txBody>
          <a:bodyPr wrap="square" rtlCol="0" anchor="ctr"/>
          <a:lstStyle/>
          <a:p>
            <a:pPr marL="0" indent="0">
              <a:buNone/>
            </a:pPr>
            <a:r>
              <a:rPr lang="en-US" sz="3200" b="1" dirty="0">
                <a:solidFill>
                  <a:srgbClr val="0B3D62"/>
                </a:solidFill>
                <a:latin typeface="Cambria" pitchFamily="34" charset="0"/>
                <a:ea typeface="Cambria" pitchFamily="34" charset="-122"/>
                <a:cs typeface="Cambria" pitchFamily="34" charset="-120"/>
              </a:rPr>
              <a:t>Nasıl Çalışıyor</a:t>
            </a:r>
            <a:endParaRPr lang="en-US" sz="3200" dirty="0"/>
          </a:p>
        </p:txBody>
      </p:sp>
      <p:sp>
        <p:nvSpPr>
          <p:cNvPr id="5" name="Text 2"/>
          <p:cNvSpPr/>
          <p:nvPr/>
        </p:nvSpPr>
        <p:spPr>
          <a:xfrm>
            <a:off x="548640" y="1490472"/>
            <a:ext cx="2743200" cy="320040"/>
          </a:xfrm>
          <a:prstGeom prst="rect">
            <a:avLst/>
          </a:prstGeom>
          <a:noFill/>
          <a:ln/>
        </p:spPr>
        <p:txBody>
          <a:bodyPr wrap="square"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VERİ TOPLAMA</a:t>
            </a:r>
            <a:endParaRPr lang="en-US" sz="1250" dirty="0"/>
          </a:p>
        </p:txBody>
      </p:sp>
      <p:sp>
        <p:nvSpPr>
          <p:cNvPr id="6" name="Shape 3"/>
          <p:cNvSpPr/>
          <p:nvPr/>
        </p:nvSpPr>
        <p:spPr>
          <a:xfrm>
            <a:off x="548640" y="1874520"/>
            <a:ext cx="1635252" cy="868680"/>
          </a:xfrm>
          <a:prstGeom prst="roundRect">
            <a:avLst>
              <a:gd name="adj" fmla="val 8421"/>
            </a:avLst>
          </a:prstGeom>
          <a:solidFill>
            <a:srgbClr val="0B3D62"/>
          </a:solidFill>
          <a:ln/>
        </p:spPr>
        <p:txBody>
          <a:bodyPr/>
          <a:lstStyle/>
          <a:p>
            <a:endParaRPr lang="tr-TR"/>
          </a:p>
        </p:txBody>
      </p:sp>
      <p:sp>
        <p:nvSpPr>
          <p:cNvPr id="7" name="Text 4"/>
          <p:cNvSpPr/>
          <p:nvPr/>
        </p:nvSpPr>
        <p:spPr>
          <a:xfrm>
            <a:off x="603504" y="187452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Kaynak Siteler (7)</a:t>
            </a:r>
            <a:endParaRPr lang="en-US" sz="1150" dirty="0"/>
          </a:p>
        </p:txBody>
      </p:sp>
      <p:sp>
        <p:nvSpPr>
          <p:cNvPr id="8" name="Text 5"/>
          <p:cNvSpPr/>
          <p:nvPr/>
        </p:nvSpPr>
        <p:spPr>
          <a:xfrm>
            <a:off x="2183892" y="1874520"/>
            <a:ext cx="256032" cy="868680"/>
          </a:xfrm>
          <a:prstGeom prst="rect">
            <a:avLst/>
          </a:prstGeom>
          <a:noFill/>
          <a:ln/>
        </p:spPr>
        <p:txBody>
          <a:bodyPr wrap="square" rtlCol="0" anchor="ctr"/>
          <a:lstStyle/>
          <a:p>
            <a:pPr marL="0" indent="0" algn="ctr">
              <a:buNone/>
            </a:pPr>
            <a:r>
              <a:rPr lang="en-US" sz="1600" b="1" dirty="0">
                <a:solidFill>
                  <a:srgbClr val="F2A541"/>
                </a:solidFill>
                <a:latin typeface="Calibri" pitchFamily="34" charset="0"/>
                <a:ea typeface="Calibri" pitchFamily="34" charset="-122"/>
                <a:cs typeface="Calibri" pitchFamily="34" charset="-120"/>
              </a:rPr>
              <a:t>→</a:t>
            </a:r>
            <a:endParaRPr lang="en-US" sz="1600" dirty="0"/>
          </a:p>
        </p:txBody>
      </p:sp>
      <p:sp>
        <p:nvSpPr>
          <p:cNvPr id="9" name="Shape 6"/>
          <p:cNvSpPr/>
          <p:nvPr/>
        </p:nvSpPr>
        <p:spPr>
          <a:xfrm>
            <a:off x="2439924" y="1874520"/>
            <a:ext cx="1635252" cy="868680"/>
          </a:xfrm>
          <a:prstGeom prst="roundRect">
            <a:avLst>
              <a:gd name="adj" fmla="val 8421"/>
            </a:avLst>
          </a:prstGeom>
          <a:solidFill>
            <a:srgbClr val="0B3D62"/>
          </a:solidFill>
          <a:ln/>
        </p:spPr>
        <p:txBody>
          <a:bodyPr/>
          <a:lstStyle/>
          <a:p>
            <a:endParaRPr lang="tr-TR"/>
          </a:p>
        </p:txBody>
      </p:sp>
      <p:sp>
        <p:nvSpPr>
          <p:cNvPr id="10" name="Text 7"/>
          <p:cNvSpPr/>
          <p:nvPr/>
        </p:nvSpPr>
        <p:spPr>
          <a:xfrm>
            <a:off x="2494788" y="187452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Adapter / Scraper</a:t>
            </a:r>
            <a:endParaRPr lang="en-US" sz="1150" dirty="0"/>
          </a:p>
        </p:txBody>
      </p:sp>
      <p:sp>
        <p:nvSpPr>
          <p:cNvPr id="11" name="Text 8"/>
          <p:cNvSpPr/>
          <p:nvPr/>
        </p:nvSpPr>
        <p:spPr>
          <a:xfrm>
            <a:off x="4075176" y="1874520"/>
            <a:ext cx="256032" cy="868680"/>
          </a:xfrm>
          <a:prstGeom prst="rect">
            <a:avLst/>
          </a:prstGeom>
          <a:noFill/>
          <a:ln/>
        </p:spPr>
        <p:txBody>
          <a:bodyPr wrap="square" rtlCol="0" anchor="ctr"/>
          <a:lstStyle/>
          <a:p>
            <a:pPr marL="0" indent="0" algn="ctr">
              <a:buNone/>
            </a:pPr>
            <a:r>
              <a:rPr lang="en-US" sz="1600" b="1" dirty="0">
                <a:solidFill>
                  <a:srgbClr val="F2A541"/>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4331208" y="1874520"/>
            <a:ext cx="1635252" cy="868680"/>
          </a:xfrm>
          <a:prstGeom prst="roundRect">
            <a:avLst>
              <a:gd name="adj" fmla="val 8421"/>
            </a:avLst>
          </a:prstGeom>
          <a:solidFill>
            <a:srgbClr val="0B3D62"/>
          </a:solidFill>
          <a:ln/>
        </p:spPr>
        <p:txBody>
          <a:bodyPr/>
          <a:lstStyle/>
          <a:p>
            <a:endParaRPr lang="tr-TR"/>
          </a:p>
        </p:txBody>
      </p:sp>
      <p:sp>
        <p:nvSpPr>
          <p:cNvPr id="13" name="Text 10"/>
          <p:cNvSpPr/>
          <p:nvPr/>
        </p:nvSpPr>
        <p:spPr>
          <a:xfrm>
            <a:off x="4386072" y="187452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Temizleme (Trafilatura)</a:t>
            </a:r>
            <a:endParaRPr lang="en-US" sz="1150" dirty="0"/>
          </a:p>
        </p:txBody>
      </p:sp>
      <p:sp>
        <p:nvSpPr>
          <p:cNvPr id="14" name="Text 11"/>
          <p:cNvSpPr/>
          <p:nvPr/>
        </p:nvSpPr>
        <p:spPr>
          <a:xfrm>
            <a:off x="5966460" y="1874520"/>
            <a:ext cx="256032" cy="868680"/>
          </a:xfrm>
          <a:prstGeom prst="rect">
            <a:avLst/>
          </a:prstGeom>
          <a:noFill/>
          <a:ln/>
        </p:spPr>
        <p:txBody>
          <a:bodyPr wrap="square" rtlCol="0" anchor="ctr"/>
          <a:lstStyle/>
          <a:p>
            <a:pPr marL="0" indent="0" algn="ctr">
              <a:buNone/>
            </a:pPr>
            <a:r>
              <a:rPr lang="en-US" sz="1600" b="1" dirty="0">
                <a:solidFill>
                  <a:srgbClr val="F2A541"/>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6222492" y="1874520"/>
            <a:ext cx="1635252" cy="868680"/>
          </a:xfrm>
          <a:prstGeom prst="roundRect">
            <a:avLst>
              <a:gd name="adj" fmla="val 8421"/>
            </a:avLst>
          </a:prstGeom>
          <a:solidFill>
            <a:srgbClr val="0B3D62"/>
          </a:solidFill>
          <a:ln/>
        </p:spPr>
        <p:txBody>
          <a:bodyPr/>
          <a:lstStyle/>
          <a:p>
            <a:endParaRPr lang="tr-TR"/>
          </a:p>
        </p:txBody>
      </p:sp>
      <p:sp>
        <p:nvSpPr>
          <p:cNvPr id="16" name="Text 13"/>
          <p:cNvSpPr/>
          <p:nvPr/>
        </p:nvSpPr>
        <p:spPr>
          <a:xfrm>
            <a:off x="6277356" y="187452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Tekilleştirme (hash)</a:t>
            </a:r>
            <a:endParaRPr lang="en-US" sz="1150" dirty="0"/>
          </a:p>
        </p:txBody>
      </p:sp>
      <p:sp>
        <p:nvSpPr>
          <p:cNvPr id="17" name="Text 14"/>
          <p:cNvSpPr/>
          <p:nvPr/>
        </p:nvSpPr>
        <p:spPr>
          <a:xfrm>
            <a:off x="7857744" y="1874520"/>
            <a:ext cx="256032" cy="868680"/>
          </a:xfrm>
          <a:prstGeom prst="rect">
            <a:avLst/>
          </a:prstGeom>
          <a:noFill/>
          <a:ln/>
        </p:spPr>
        <p:txBody>
          <a:bodyPr wrap="square" rtlCol="0" anchor="ctr"/>
          <a:lstStyle/>
          <a:p>
            <a:pPr marL="0" indent="0" algn="ctr">
              <a:buNone/>
            </a:pPr>
            <a:r>
              <a:rPr lang="en-US" sz="1600" b="1" dirty="0">
                <a:solidFill>
                  <a:srgbClr val="F2A541"/>
                </a:solidFill>
                <a:latin typeface="Calibri" pitchFamily="34" charset="0"/>
                <a:ea typeface="Calibri" pitchFamily="34" charset="-122"/>
                <a:cs typeface="Calibri" pitchFamily="34" charset="-120"/>
              </a:rPr>
              <a:t>→</a:t>
            </a:r>
            <a:endParaRPr lang="en-US" sz="1600" dirty="0"/>
          </a:p>
        </p:txBody>
      </p:sp>
      <p:sp>
        <p:nvSpPr>
          <p:cNvPr id="18" name="Shape 15"/>
          <p:cNvSpPr/>
          <p:nvPr/>
        </p:nvSpPr>
        <p:spPr>
          <a:xfrm>
            <a:off x="8113776" y="1874520"/>
            <a:ext cx="1635252" cy="868680"/>
          </a:xfrm>
          <a:prstGeom prst="roundRect">
            <a:avLst>
              <a:gd name="adj" fmla="val 8421"/>
            </a:avLst>
          </a:prstGeom>
          <a:solidFill>
            <a:srgbClr val="0B3D62"/>
          </a:solidFill>
          <a:ln/>
        </p:spPr>
        <p:txBody>
          <a:bodyPr/>
          <a:lstStyle/>
          <a:p>
            <a:endParaRPr lang="tr-TR"/>
          </a:p>
        </p:txBody>
      </p:sp>
      <p:sp>
        <p:nvSpPr>
          <p:cNvPr id="19" name="Text 16"/>
          <p:cNvSpPr/>
          <p:nvPr/>
        </p:nvSpPr>
        <p:spPr>
          <a:xfrm>
            <a:off x="8168640" y="187452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.md Depo</a:t>
            </a:r>
            <a:endParaRPr lang="en-US" sz="1150" dirty="0"/>
          </a:p>
        </p:txBody>
      </p:sp>
      <p:sp>
        <p:nvSpPr>
          <p:cNvPr id="20" name="Text 17"/>
          <p:cNvSpPr/>
          <p:nvPr/>
        </p:nvSpPr>
        <p:spPr>
          <a:xfrm>
            <a:off x="9749028" y="1874520"/>
            <a:ext cx="256032" cy="868680"/>
          </a:xfrm>
          <a:prstGeom prst="rect">
            <a:avLst/>
          </a:prstGeom>
          <a:noFill/>
          <a:ln/>
        </p:spPr>
        <p:txBody>
          <a:bodyPr wrap="square" rtlCol="0" anchor="ctr"/>
          <a:lstStyle/>
          <a:p>
            <a:pPr marL="0" indent="0" algn="ctr">
              <a:buNone/>
            </a:pPr>
            <a:r>
              <a:rPr lang="en-US" sz="1600" b="1" dirty="0">
                <a:solidFill>
                  <a:srgbClr val="F2A541"/>
                </a:solidFill>
                <a:latin typeface="Calibri" pitchFamily="34" charset="0"/>
                <a:ea typeface="Calibri" pitchFamily="34" charset="-122"/>
                <a:cs typeface="Calibri" pitchFamily="34" charset="-120"/>
              </a:rPr>
              <a:t>→</a:t>
            </a:r>
            <a:endParaRPr lang="en-US" sz="1600" dirty="0"/>
          </a:p>
        </p:txBody>
      </p:sp>
      <p:sp>
        <p:nvSpPr>
          <p:cNvPr id="21" name="Shape 18"/>
          <p:cNvSpPr/>
          <p:nvPr/>
        </p:nvSpPr>
        <p:spPr>
          <a:xfrm>
            <a:off x="10005060" y="1874520"/>
            <a:ext cx="1635252" cy="868680"/>
          </a:xfrm>
          <a:prstGeom prst="roundRect">
            <a:avLst>
              <a:gd name="adj" fmla="val 8421"/>
            </a:avLst>
          </a:prstGeom>
          <a:solidFill>
            <a:srgbClr val="0B3D62"/>
          </a:solidFill>
          <a:ln/>
        </p:spPr>
        <p:txBody>
          <a:bodyPr/>
          <a:lstStyle/>
          <a:p>
            <a:endParaRPr lang="tr-TR"/>
          </a:p>
        </p:txBody>
      </p:sp>
      <p:sp>
        <p:nvSpPr>
          <p:cNvPr id="22" name="Text 19"/>
          <p:cNvSpPr/>
          <p:nvPr/>
        </p:nvSpPr>
        <p:spPr>
          <a:xfrm>
            <a:off x="10059924" y="187452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Vektör İndeks</a:t>
            </a:r>
            <a:endParaRPr lang="en-US" sz="1150" dirty="0"/>
          </a:p>
        </p:txBody>
      </p:sp>
      <p:sp>
        <p:nvSpPr>
          <p:cNvPr id="23" name="Text 20"/>
          <p:cNvSpPr/>
          <p:nvPr/>
        </p:nvSpPr>
        <p:spPr>
          <a:xfrm>
            <a:off x="548640" y="3593592"/>
            <a:ext cx="2743200" cy="320040"/>
          </a:xfrm>
          <a:prstGeom prst="rect">
            <a:avLst/>
          </a:prstGeom>
          <a:noFill/>
          <a:ln/>
        </p:spPr>
        <p:txBody>
          <a:bodyPr wrap="square"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SORU-CEVAP</a:t>
            </a:r>
            <a:endParaRPr lang="en-US" sz="1250" dirty="0"/>
          </a:p>
        </p:txBody>
      </p:sp>
      <p:sp>
        <p:nvSpPr>
          <p:cNvPr id="24" name="Shape 21"/>
          <p:cNvSpPr/>
          <p:nvPr/>
        </p:nvSpPr>
        <p:spPr>
          <a:xfrm>
            <a:off x="548640" y="3977640"/>
            <a:ext cx="1635252" cy="868680"/>
          </a:xfrm>
          <a:prstGeom prst="roundRect">
            <a:avLst>
              <a:gd name="adj" fmla="val 8421"/>
            </a:avLst>
          </a:prstGeom>
          <a:solidFill>
            <a:srgbClr val="1C7293"/>
          </a:solidFill>
          <a:ln/>
        </p:spPr>
        <p:txBody>
          <a:bodyPr/>
          <a:lstStyle/>
          <a:p>
            <a:endParaRPr lang="tr-TR"/>
          </a:p>
        </p:txBody>
      </p:sp>
      <p:sp>
        <p:nvSpPr>
          <p:cNvPr id="25" name="Text 22"/>
          <p:cNvSpPr/>
          <p:nvPr/>
        </p:nvSpPr>
        <p:spPr>
          <a:xfrm>
            <a:off x="603504" y="397764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Kullanıcı Sorusu</a:t>
            </a:r>
            <a:endParaRPr lang="en-US" sz="1150" dirty="0"/>
          </a:p>
        </p:txBody>
      </p:sp>
      <p:sp>
        <p:nvSpPr>
          <p:cNvPr id="26" name="Text 23"/>
          <p:cNvSpPr/>
          <p:nvPr/>
        </p:nvSpPr>
        <p:spPr>
          <a:xfrm>
            <a:off x="2183892" y="3977640"/>
            <a:ext cx="256032" cy="868680"/>
          </a:xfrm>
          <a:prstGeom prst="rect">
            <a:avLst/>
          </a:prstGeom>
          <a:noFill/>
          <a:ln/>
        </p:spPr>
        <p:txBody>
          <a:bodyPr wrap="square" rtlCol="0" anchor="ctr"/>
          <a:lstStyle/>
          <a:p>
            <a:pPr marL="0" indent="0" algn="ctr">
              <a:buNone/>
            </a:pPr>
            <a:r>
              <a:rPr lang="en-US" sz="1600" b="1" dirty="0">
                <a:solidFill>
                  <a:srgbClr val="F2A541"/>
                </a:solidFill>
                <a:latin typeface="Calibri" pitchFamily="34" charset="0"/>
                <a:ea typeface="Calibri" pitchFamily="34" charset="-122"/>
                <a:cs typeface="Calibri" pitchFamily="34" charset="-120"/>
              </a:rPr>
              <a:t>→</a:t>
            </a:r>
            <a:endParaRPr lang="en-US" sz="1600" dirty="0"/>
          </a:p>
        </p:txBody>
      </p:sp>
      <p:sp>
        <p:nvSpPr>
          <p:cNvPr id="27" name="Shape 24"/>
          <p:cNvSpPr/>
          <p:nvPr/>
        </p:nvSpPr>
        <p:spPr>
          <a:xfrm>
            <a:off x="2439924" y="3977640"/>
            <a:ext cx="1635252" cy="868680"/>
          </a:xfrm>
          <a:prstGeom prst="roundRect">
            <a:avLst>
              <a:gd name="adj" fmla="val 8421"/>
            </a:avLst>
          </a:prstGeom>
          <a:solidFill>
            <a:srgbClr val="1C7293"/>
          </a:solidFill>
          <a:ln/>
        </p:spPr>
        <p:txBody>
          <a:bodyPr/>
          <a:lstStyle/>
          <a:p>
            <a:endParaRPr lang="tr-TR"/>
          </a:p>
        </p:txBody>
      </p:sp>
      <p:sp>
        <p:nvSpPr>
          <p:cNvPr id="28" name="Text 25"/>
          <p:cNvSpPr/>
          <p:nvPr/>
        </p:nvSpPr>
        <p:spPr>
          <a:xfrm>
            <a:off x="2494788" y="397764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Next.js Arayüz</a:t>
            </a:r>
            <a:endParaRPr lang="en-US" sz="1150" dirty="0"/>
          </a:p>
        </p:txBody>
      </p:sp>
      <p:sp>
        <p:nvSpPr>
          <p:cNvPr id="29" name="Text 26"/>
          <p:cNvSpPr/>
          <p:nvPr/>
        </p:nvSpPr>
        <p:spPr>
          <a:xfrm>
            <a:off x="4075176" y="3977640"/>
            <a:ext cx="256032" cy="868680"/>
          </a:xfrm>
          <a:prstGeom prst="rect">
            <a:avLst/>
          </a:prstGeom>
          <a:noFill/>
          <a:ln/>
        </p:spPr>
        <p:txBody>
          <a:bodyPr wrap="square" rtlCol="0" anchor="ctr"/>
          <a:lstStyle/>
          <a:p>
            <a:pPr marL="0" indent="0" algn="ctr">
              <a:buNone/>
            </a:pPr>
            <a:r>
              <a:rPr lang="en-US" sz="1600" b="1" dirty="0">
                <a:solidFill>
                  <a:srgbClr val="F2A541"/>
                </a:solidFill>
                <a:latin typeface="Calibri" pitchFamily="34" charset="0"/>
                <a:ea typeface="Calibri" pitchFamily="34" charset="-122"/>
                <a:cs typeface="Calibri" pitchFamily="34" charset="-120"/>
              </a:rPr>
              <a:t>→</a:t>
            </a:r>
            <a:endParaRPr lang="en-US" sz="1600" dirty="0"/>
          </a:p>
        </p:txBody>
      </p:sp>
      <p:sp>
        <p:nvSpPr>
          <p:cNvPr id="30" name="Shape 27"/>
          <p:cNvSpPr/>
          <p:nvPr/>
        </p:nvSpPr>
        <p:spPr>
          <a:xfrm>
            <a:off x="4331208" y="3977640"/>
            <a:ext cx="1635252" cy="868680"/>
          </a:xfrm>
          <a:prstGeom prst="roundRect">
            <a:avLst>
              <a:gd name="adj" fmla="val 8421"/>
            </a:avLst>
          </a:prstGeom>
          <a:solidFill>
            <a:srgbClr val="1C7293"/>
          </a:solidFill>
          <a:ln/>
        </p:spPr>
        <p:txBody>
          <a:bodyPr/>
          <a:lstStyle/>
          <a:p>
            <a:endParaRPr lang="tr-TR"/>
          </a:p>
        </p:txBody>
      </p:sp>
      <p:sp>
        <p:nvSpPr>
          <p:cNvPr id="31" name="Text 28"/>
          <p:cNvSpPr/>
          <p:nvPr/>
        </p:nvSpPr>
        <p:spPr>
          <a:xfrm>
            <a:off x="4386072" y="397764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FastAPI</a:t>
            </a:r>
            <a:endParaRPr lang="en-US" sz="1150" dirty="0"/>
          </a:p>
        </p:txBody>
      </p:sp>
      <p:sp>
        <p:nvSpPr>
          <p:cNvPr id="32" name="Text 29"/>
          <p:cNvSpPr/>
          <p:nvPr/>
        </p:nvSpPr>
        <p:spPr>
          <a:xfrm>
            <a:off x="5966460" y="3977640"/>
            <a:ext cx="256032" cy="868680"/>
          </a:xfrm>
          <a:prstGeom prst="rect">
            <a:avLst/>
          </a:prstGeom>
          <a:noFill/>
          <a:ln/>
        </p:spPr>
        <p:txBody>
          <a:bodyPr wrap="square" rtlCol="0" anchor="ctr"/>
          <a:lstStyle/>
          <a:p>
            <a:pPr marL="0" indent="0" algn="ctr">
              <a:buNone/>
            </a:pPr>
            <a:r>
              <a:rPr lang="en-US" sz="1600" b="1" dirty="0">
                <a:solidFill>
                  <a:srgbClr val="F2A541"/>
                </a:solidFill>
                <a:latin typeface="Calibri" pitchFamily="34" charset="0"/>
                <a:ea typeface="Calibri" pitchFamily="34" charset="-122"/>
                <a:cs typeface="Calibri" pitchFamily="34" charset="-120"/>
              </a:rPr>
              <a:t>→</a:t>
            </a:r>
            <a:endParaRPr lang="en-US" sz="1600" dirty="0"/>
          </a:p>
        </p:txBody>
      </p:sp>
      <p:sp>
        <p:nvSpPr>
          <p:cNvPr id="33" name="Shape 30"/>
          <p:cNvSpPr/>
          <p:nvPr/>
        </p:nvSpPr>
        <p:spPr>
          <a:xfrm>
            <a:off x="6222492" y="3977640"/>
            <a:ext cx="1635252" cy="868680"/>
          </a:xfrm>
          <a:prstGeom prst="roundRect">
            <a:avLst>
              <a:gd name="adj" fmla="val 8421"/>
            </a:avLst>
          </a:prstGeom>
          <a:solidFill>
            <a:srgbClr val="1C7293"/>
          </a:solidFill>
          <a:ln/>
        </p:spPr>
        <p:txBody>
          <a:bodyPr/>
          <a:lstStyle/>
          <a:p>
            <a:endParaRPr lang="tr-TR"/>
          </a:p>
        </p:txBody>
      </p:sp>
      <p:sp>
        <p:nvSpPr>
          <p:cNvPr id="34" name="Text 31"/>
          <p:cNvSpPr/>
          <p:nvPr/>
        </p:nvSpPr>
        <p:spPr>
          <a:xfrm>
            <a:off x="6277356" y="397764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Vektör Arama</a:t>
            </a:r>
            <a:endParaRPr lang="en-US" sz="1150" dirty="0"/>
          </a:p>
        </p:txBody>
      </p:sp>
      <p:sp>
        <p:nvSpPr>
          <p:cNvPr id="35" name="Text 32"/>
          <p:cNvSpPr/>
          <p:nvPr/>
        </p:nvSpPr>
        <p:spPr>
          <a:xfrm>
            <a:off x="7857744" y="3977640"/>
            <a:ext cx="256032" cy="868680"/>
          </a:xfrm>
          <a:prstGeom prst="rect">
            <a:avLst/>
          </a:prstGeom>
          <a:noFill/>
          <a:ln/>
        </p:spPr>
        <p:txBody>
          <a:bodyPr wrap="square" rtlCol="0" anchor="ctr"/>
          <a:lstStyle/>
          <a:p>
            <a:pPr marL="0" indent="0" algn="ctr">
              <a:buNone/>
            </a:pPr>
            <a:r>
              <a:rPr lang="en-US" sz="1600" b="1" dirty="0">
                <a:solidFill>
                  <a:srgbClr val="F2A541"/>
                </a:solidFill>
                <a:latin typeface="Calibri" pitchFamily="34" charset="0"/>
                <a:ea typeface="Calibri" pitchFamily="34" charset="-122"/>
                <a:cs typeface="Calibri" pitchFamily="34" charset="-120"/>
              </a:rPr>
              <a:t>→</a:t>
            </a:r>
            <a:endParaRPr lang="en-US" sz="1600" dirty="0"/>
          </a:p>
        </p:txBody>
      </p:sp>
      <p:sp>
        <p:nvSpPr>
          <p:cNvPr id="36" name="Shape 33"/>
          <p:cNvSpPr/>
          <p:nvPr/>
        </p:nvSpPr>
        <p:spPr>
          <a:xfrm>
            <a:off x="8113776" y="3977640"/>
            <a:ext cx="1635252" cy="868680"/>
          </a:xfrm>
          <a:prstGeom prst="roundRect">
            <a:avLst>
              <a:gd name="adj" fmla="val 8421"/>
            </a:avLst>
          </a:prstGeom>
          <a:solidFill>
            <a:srgbClr val="1C7293"/>
          </a:solidFill>
          <a:ln/>
        </p:spPr>
        <p:txBody>
          <a:bodyPr/>
          <a:lstStyle/>
          <a:p>
            <a:endParaRPr lang="tr-TR"/>
          </a:p>
        </p:txBody>
      </p:sp>
      <p:sp>
        <p:nvSpPr>
          <p:cNvPr id="37" name="Text 34"/>
          <p:cNvSpPr/>
          <p:nvPr/>
        </p:nvSpPr>
        <p:spPr>
          <a:xfrm>
            <a:off x="8168640" y="397764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LLM</a:t>
            </a:r>
            <a:endParaRPr lang="en-US" sz="1150" dirty="0"/>
          </a:p>
        </p:txBody>
      </p:sp>
      <p:sp>
        <p:nvSpPr>
          <p:cNvPr id="38" name="Text 35"/>
          <p:cNvSpPr/>
          <p:nvPr/>
        </p:nvSpPr>
        <p:spPr>
          <a:xfrm>
            <a:off x="9749028" y="3977640"/>
            <a:ext cx="256032" cy="868680"/>
          </a:xfrm>
          <a:prstGeom prst="rect">
            <a:avLst/>
          </a:prstGeom>
          <a:noFill/>
          <a:ln/>
        </p:spPr>
        <p:txBody>
          <a:bodyPr wrap="square" rtlCol="0" anchor="ctr"/>
          <a:lstStyle/>
          <a:p>
            <a:pPr marL="0" indent="0" algn="ctr">
              <a:buNone/>
            </a:pPr>
            <a:r>
              <a:rPr lang="en-US" sz="1600" b="1" dirty="0">
                <a:solidFill>
                  <a:srgbClr val="F2A541"/>
                </a:solidFill>
                <a:latin typeface="Calibri" pitchFamily="34" charset="0"/>
                <a:ea typeface="Calibri" pitchFamily="34" charset="-122"/>
                <a:cs typeface="Calibri" pitchFamily="34" charset="-120"/>
              </a:rPr>
              <a:t>→</a:t>
            </a:r>
            <a:endParaRPr lang="en-US" sz="1600" dirty="0"/>
          </a:p>
        </p:txBody>
      </p:sp>
      <p:sp>
        <p:nvSpPr>
          <p:cNvPr id="39" name="Shape 36"/>
          <p:cNvSpPr/>
          <p:nvPr/>
        </p:nvSpPr>
        <p:spPr>
          <a:xfrm>
            <a:off x="10005060" y="3977640"/>
            <a:ext cx="1635252" cy="868680"/>
          </a:xfrm>
          <a:prstGeom prst="roundRect">
            <a:avLst>
              <a:gd name="adj" fmla="val 8421"/>
            </a:avLst>
          </a:prstGeom>
          <a:solidFill>
            <a:srgbClr val="1C7293"/>
          </a:solidFill>
          <a:ln/>
        </p:spPr>
        <p:txBody>
          <a:bodyPr/>
          <a:lstStyle/>
          <a:p>
            <a:endParaRPr lang="tr-TR"/>
          </a:p>
        </p:txBody>
      </p:sp>
      <p:sp>
        <p:nvSpPr>
          <p:cNvPr id="40" name="Text 37"/>
          <p:cNvSpPr/>
          <p:nvPr/>
        </p:nvSpPr>
        <p:spPr>
          <a:xfrm>
            <a:off x="10059924" y="3977640"/>
            <a:ext cx="1525524"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Cevap + Kaynaklar</a:t>
            </a:r>
            <a:endParaRPr lang="en-US" sz="1150" dirty="0"/>
          </a:p>
        </p:txBody>
      </p:sp>
      <p:sp>
        <p:nvSpPr>
          <p:cNvPr id="41" name="Shape 38"/>
          <p:cNvSpPr/>
          <p:nvPr/>
        </p:nvSpPr>
        <p:spPr>
          <a:xfrm>
            <a:off x="548640" y="5532120"/>
            <a:ext cx="11091672" cy="777240"/>
          </a:xfrm>
          <a:prstGeom prst="roundRect">
            <a:avLst>
              <a:gd name="adj" fmla="val 9412"/>
            </a:avLst>
          </a:prstGeom>
          <a:solidFill>
            <a:srgbClr val="F2F6F9"/>
          </a:solidFill>
          <a:ln/>
        </p:spPr>
        <p:txBody>
          <a:bodyPr/>
          <a:lstStyle/>
          <a:p>
            <a:endParaRPr lang="tr-TR"/>
          </a:p>
        </p:txBody>
      </p:sp>
      <p:sp>
        <p:nvSpPr>
          <p:cNvPr id="42" name="Text 39"/>
          <p:cNvSpPr/>
          <p:nvPr/>
        </p:nvSpPr>
        <p:spPr>
          <a:xfrm>
            <a:off x="822960" y="5532120"/>
            <a:ext cx="10543032" cy="777240"/>
          </a:xfrm>
          <a:prstGeom prst="rect">
            <a:avLst/>
          </a:prstGeom>
          <a:noFill/>
          <a:ln/>
        </p:spPr>
        <p:txBody>
          <a:bodyPr wrap="square" rtlCol="0" anchor="ctr"/>
          <a:lstStyle/>
          <a:p>
            <a:pPr marL="0" indent="0">
              <a:buNone/>
            </a:pPr>
            <a:r>
              <a:rPr lang="en-US" sz="1300" b="1" dirty="0">
                <a:solidFill>
                  <a:srgbClr val="0B3D62"/>
                </a:solidFill>
                <a:latin typeface="Calibri" pitchFamily="34" charset="0"/>
                <a:ea typeface="Calibri" pitchFamily="34" charset="-122"/>
                <a:cs typeface="Calibri" pitchFamily="34" charset="-120"/>
              </a:rPr>
              <a:t>Not:  </a:t>
            </a:r>
            <a:r>
              <a:rPr lang="en-US" sz="1300" dirty="0">
                <a:solidFill>
                  <a:srgbClr val="1A2733"/>
                </a:solidFill>
                <a:latin typeface="Calibri" pitchFamily="34" charset="0"/>
                <a:ea typeface="Calibri" pitchFamily="34" charset="-122"/>
                <a:cs typeface="Calibri" pitchFamily="34" charset="-120"/>
              </a:rPr>
              <a:t>her iki akış aynı vektör indeksi paylaşır — veri toplama akışı onu besler, soru-cevap akışı ondan okur.</a:t>
            </a:r>
            <a:endParaRPr lang="en-US" sz="1300" dirty="0"/>
          </a:p>
        </p:txBody>
      </p:sp>
      <p:sp>
        <p:nvSpPr>
          <p:cNvPr id="43" name="Text 40"/>
          <p:cNvSpPr/>
          <p:nvPr/>
        </p:nvSpPr>
        <p:spPr>
          <a:xfrm>
            <a:off x="11338560" y="6473952"/>
            <a:ext cx="73152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731520" cy="731520"/>
          </a:xfrm>
          <a:prstGeom prst="ellipse">
            <a:avLst/>
          </a:prstGeom>
          <a:solidFill>
            <a:srgbClr val="1C7293"/>
          </a:solidFill>
          <a:ln/>
        </p:spPr>
        <p:txBody>
          <a:bodyPr/>
          <a:lstStyle/>
          <a:p>
            <a:endParaRPr lang="tr-TR"/>
          </a:p>
        </p:txBody>
      </p:sp>
      <p:pic>
        <p:nvPicPr>
          <p:cNvPr id="3" name="Image 0" descr="C:\Users\42ard\AppData\Local\Temp\claude\C--Users-42ard-OneDrive-Masa-st--kbbveri\4d2e7f34-33f2-41f4-86bc-c8fc0f9f0b96\scratchpad\sunum\icons\python.png"/>
          <p:cNvPicPr>
            <a:picLocks noChangeAspect="1"/>
          </p:cNvPicPr>
          <p:nvPr/>
        </p:nvPicPr>
        <p:blipFill>
          <a:blip r:embed="rId3"/>
          <a:stretch>
            <a:fillRect/>
          </a:stretch>
        </p:blipFill>
        <p:spPr>
          <a:xfrm>
            <a:off x="724205" y="495605"/>
            <a:ext cx="380390" cy="380390"/>
          </a:xfrm>
          <a:prstGeom prst="rect">
            <a:avLst/>
          </a:prstGeom>
        </p:spPr>
      </p:pic>
      <p:sp>
        <p:nvSpPr>
          <p:cNvPr id="4" name="Text 1"/>
          <p:cNvSpPr/>
          <p:nvPr/>
        </p:nvSpPr>
        <p:spPr>
          <a:xfrm>
            <a:off x="1417320" y="384048"/>
            <a:ext cx="10222992" cy="603504"/>
          </a:xfrm>
          <a:prstGeom prst="rect">
            <a:avLst/>
          </a:prstGeom>
          <a:noFill/>
          <a:ln/>
        </p:spPr>
        <p:txBody>
          <a:bodyPr wrap="square" rtlCol="0" anchor="ctr"/>
          <a:lstStyle/>
          <a:p>
            <a:pPr marL="0" indent="0">
              <a:buNone/>
            </a:pPr>
            <a:r>
              <a:rPr lang="en-US" sz="3200" b="1" dirty="0">
                <a:solidFill>
                  <a:srgbClr val="0B3D62"/>
                </a:solidFill>
                <a:latin typeface="Cambria" pitchFamily="34" charset="0"/>
                <a:ea typeface="Cambria" pitchFamily="34" charset="-122"/>
                <a:cs typeface="Cambria" pitchFamily="34" charset="-120"/>
              </a:rPr>
              <a:t>Teknik Detaylar</a:t>
            </a:r>
            <a:endParaRPr lang="en-US" sz="3200" dirty="0"/>
          </a:p>
        </p:txBody>
      </p:sp>
      <p:sp>
        <p:nvSpPr>
          <p:cNvPr id="5" name="Shape 2"/>
          <p:cNvSpPr/>
          <p:nvPr/>
        </p:nvSpPr>
        <p:spPr>
          <a:xfrm>
            <a:off x="548640" y="1554480"/>
            <a:ext cx="5317236" cy="1481328"/>
          </a:xfrm>
          <a:prstGeom prst="roundRect">
            <a:avLst>
              <a:gd name="adj" fmla="val 4938"/>
            </a:avLst>
          </a:prstGeom>
          <a:solidFill>
            <a:srgbClr val="F2F6F9"/>
          </a:solidFill>
          <a:ln/>
        </p:spPr>
        <p:txBody>
          <a:bodyPr/>
          <a:lstStyle/>
          <a:p>
            <a:endParaRPr lang="tr-TR"/>
          </a:p>
        </p:txBody>
      </p:sp>
      <p:sp>
        <p:nvSpPr>
          <p:cNvPr id="6" name="Shape 3"/>
          <p:cNvSpPr/>
          <p:nvPr/>
        </p:nvSpPr>
        <p:spPr>
          <a:xfrm>
            <a:off x="749808" y="1682496"/>
            <a:ext cx="512064" cy="512064"/>
          </a:xfrm>
          <a:prstGeom prst="ellipse">
            <a:avLst/>
          </a:prstGeom>
          <a:solidFill>
            <a:srgbClr val="0B3D62"/>
          </a:solidFill>
          <a:ln/>
        </p:spPr>
        <p:txBody>
          <a:bodyPr/>
          <a:lstStyle/>
          <a:p>
            <a:endParaRPr lang="tr-TR"/>
          </a:p>
        </p:txBody>
      </p:sp>
      <p:pic>
        <p:nvPicPr>
          <p:cNvPr id="7" name="Image 1" descr="C:\Users\42ard\AppData\Local\Temp\claude\C--Users-42ard-OneDrive-Masa-st--kbbveri\4d2e7f34-33f2-41f4-86bc-c8fc0f9f0b96\scratchpad\sunum\icons\layers.png"/>
          <p:cNvPicPr>
            <a:picLocks noChangeAspect="1"/>
          </p:cNvPicPr>
          <p:nvPr/>
        </p:nvPicPr>
        <p:blipFill>
          <a:blip r:embed="rId4"/>
          <a:stretch>
            <a:fillRect/>
          </a:stretch>
        </p:blipFill>
        <p:spPr>
          <a:xfrm>
            <a:off x="872703" y="1805391"/>
            <a:ext cx="266273" cy="266273"/>
          </a:xfrm>
          <a:prstGeom prst="rect">
            <a:avLst/>
          </a:prstGeom>
        </p:spPr>
      </p:pic>
      <p:sp>
        <p:nvSpPr>
          <p:cNvPr id="8" name="Text 4"/>
          <p:cNvSpPr/>
          <p:nvPr/>
        </p:nvSpPr>
        <p:spPr>
          <a:xfrm>
            <a:off x="1389888" y="1645920"/>
            <a:ext cx="4311396" cy="365760"/>
          </a:xfrm>
          <a:prstGeom prst="rect">
            <a:avLst/>
          </a:prstGeom>
          <a:noFill/>
          <a:ln/>
        </p:spPr>
        <p:txBody>
          <a:bodyPr wrap="square" rtlCol="0" anchor="b"/>
          <a:lstStyle/>
          <a:p>
            <a:pPr marL="0" indent="0">
              <a:buNone/>
            </a:pPr>
            <a:r>
              <a:rPr lang="en-US" sz="1300" b="1" dirty="0">
                <a:solidFill>
                  <a:srgbClr val="0B3D62"/>
                </a:solidFill>
                <a:latin typeface="Calibri" pitchFamily="34" charset="0"/>
                <a:ea typeface="Calibri" pitchFamily="34" charset="-122"/>
                <a:cs typeface="Calibri" pitchFamily="34" charset="-120"/>
              </a:rPr>
              <a:t>Clean Architecture</a:t>
            </a:r>
            <a:endParaRPr lang="en-US" sz="1300" dirty="0"/>
          </a:p>
        </p:txBody>
      </p:sp>
      <p:sp>
        <p:nvSpPr>
          <p:cNvPr id="9" name="Text 5"/>
          <p:cNvSpPr/>
          <p:nvPr/>
        </p:nvSpPr>
        <p:spPr>
          <a:xfrm>
            <a:off x="1389888" y="1993392"/>
            <a:ext cx="4311396" cy="566928"/>
          </a:xfrm>
          <a:prstGeom prst="rect">
            <a:avLst/>
          </a:prstGeom>
          <a:noFill/>
          <a:ln/>
        </p:spPr>
        <p:txBody>
          <a:bodyPr wrap="square" rtlCol="0" anchor="t"/>
          <a:lstStyle/>
          <a:p>
            <a:pPr marL="0" indent="0">
              <a:buNone/>
            </a:pPr>
            <a:r>
              <a:rPr lang="en-US" sz="1050" dirty="0">
                <a:solidFill>
                  <a:srgbClr val="5B6B79"/>
                </a:solidFill>
                <a:latin typeface="Calibri" pitchFamily="34" charset="0"/>
                <a:ea typeface="Calibri" pitchFamily="34" charset="-122"/>
                <a:cs typeface="Calibri" pitchFamily="34" charset="-120"/>
              </a:rPr>
              <a:t>domain / application / infrastructure — FetchNewsUseCase, BuildIndexUseCase, AnswerQuestionUseCase</a:t>
            </a:r>
            <a:endParaRPr lang="en-US" sz="1050" dirty="0"/>
          </a:p>
        </p:txBody>
      </p:sp>
      <p:sp>
        <p:nvSpPr>
          <p:cNvPr id="10" name="Text 6"/>
          <p:cNvSpPr/>
          <p:nvPr/>
        </p:nvSpPr>
        <p:spPr>
          <a:xfrm>
            <a:off x="822960" y="2706624"/>
            <a:ext cx="4768596" cy="274320"/>
          </a:xfrm>
          <a:prstGeom prst="rect">
            <a:avLst/>
          </a:prstGeom>
          <a:noFill/>
          <a:ln/>
        </p:spPr>
        <p:txBody>
          <a:bodyPr wrap="square" rtlCol="0" anchor="ctr"/>
          <a:lstStyle/>
          <a:p>
            <a:pPr marL="0" indent="0">
              <a:buNone/>
            </a:pPr>
            <a:r>
              <a:rPr lang="en-US" sz="950" i="1" dirty="0">
                <a:solidFill>
                  <a:srgbClr val="1C7293"/>
                </a:solidFill>
                <a:latin typeface="Calibri" pitchFamily="34" charset="0"/>
                <a:ea typeface="Calibri" pitchFamily="34" charset="-122"/>
                <a:cs typeface="Calibri" pitchFamily="34" charset="-120"/>
              </a:rPr>
              <a:t>Neden: kaynaklar sık değişir, iş mantığı sabit kalmalı</a:t>
            </a:r>
            <a:endParaRPr lang="en-US" sz="950" dirty="0"/>
          </a:p>
        </p:txBody>
      </p:sp>
      <p:sp>
        <p:nvSpPr>
          <p:cNvPr id="11" name="Shape 7"/>
          <p:cNvSpPr/>
          <p:nvPr/>
        </p:nvSpPr>
        <p:spPr>
          <a:xfrm>
            <a:off x="6323076" y="1554480"/>
            <a:ext cx="5317236" cy="1481328"/>
          </a:xfrm>
          <a:prstGeom prst="roundRect">
            <a:avLst>
              <a:gd name="adj" fmla="val 4938"/>
            </a:avLst>
          </a:prstGeom>
          <a:solidFill>
            <a:srgbClr val="F2F6F9"/>
          </a:solidFill>
          <a:ln/>
        </p:spPr>
        <p:txBody>
          <a:bodyPr/>
          <a:lstStyle/>
          <a:p>
            <a:endParaRPr lang="tr-TR"/>
          </a:p>
        </p:txBody>
      </p:sp>
      <p:sp>
        <p:nvSpPr>
          <p:cNvPr id="12" name="Shape 8"/>
          <p:cNvSpPr/>
          <p:nvPr/>
        </p:nvSpPr>
        <p:spPr>
          <a:xfrm>
            <a:off x="6524244" y="1682496"/>
            <a:ext cx="512064" cy="512064"/>
          </a:xfrm>
          <a:prstGeom prst="ellipse">
            <a:avLst/>
          </a:prstGeom>
          <a:solidFill>
            <a:srgbClr val="0B3D62"/>
          </a:solidFill>
          <a:ln/>
        </p:spPr>
        <p:txBody>
          <a:bodyPr/>
          <a:lstStyle/>
          <a:p>
            <a:endParaRPr lang="tr-TR"/>
          </a:p>
        </p:txBody>
      </p:sp>
      <p:pic>
        <p:nvPicPr>
          <p:cNvPr id="13" name="Image 2" descr="C:\Users\42ard\AppData\Local\Temp\claude\C--Users-42ard-OneDrive-Masa-st--kbbveri\4d2e7f34-33f2-41f4-86bc-c8fc0f9f0b96\scratchpad\sunum\icons\python.png"/>
          <p:cNvPicPr>
            <a:picLocks noChangeAspect="1"/>
          </p:cNvPicPr>
          <p:nvPr/>
        </p:nvPicPr>
        <p:blipFill>
          <a:blip r:embed="rId3"/>
          <a:stretch>
            <a:fillRect/>
          </a:stretch>
        </p:blipFill>
        <p:spPr>
          <a:xfrm>
            <a:off x="6647139" y="1805391"/>
            <a:ext cx="266273" cy="266273"/>
          </a:xfrm>
          <a:prstGeom prst="rect">
            <a:avLst/>
          </a:prstGeom>
        </p:spPr>
      </p:pic>
      <p:sp>
        <p:nvSpPr>
          <p:cNvPr id="14" name="Text 9"/>
          <p:cNvSpPr/>
          <p:nvPr/>
        </p:nvSpPr>
        <p:spPr>
          <a:xfrm>
            <a:off x="7164324" y="1645920"/>
            <a:ext cx="4311396" cy="365760"/>
          </a:xfrm>
          <a:prstGeom prst="rect">
            <a:avLst/>
          </a:prstGeom>
          <a:noFill/>
          <a:ln/>
        </p:spPr>
        <p:txBody>
          <a:bodyPr wrap="square" rtlCol="0" anchor="b"/>
          <a:lstStyle/>
          <a:p>
            <a:pPr marL="0" indent="0">
              <a:buNone/>
            </a:pPr>
            <a:r>
              <a:rPr lang="en-US" sz="1300" b="1" dirty="0">
                <a:solidFill>
                  <a:srgbClr val="0B3D62"/>
                </a:solidFill>
                <a:latin typeface="Calibri" pitchFamily="34" charset="0"/>
                <a:ea typeface="Calibri" pitchFamily="34" charset="-122"/>
                <a:cs typeface="Calibri" pitchFamily="34" charset="-120"/>
              </a:rPr>
              <a:t>Python + Trafilatura</a:t>
            </a:r>
            <a:endParaRPr lang="en-US" sz="1300" dirty="0"/>
          </a:p>
        </p:txBody>
      </p:sp>
      <p:sp>
        <p:nvSpPr>
          <p:cNvPr id="15" name="Text 10"/>
          <p:cNvSpPr/>
          <p:nvPr/>
        </p:nvSpPr>
        <p:spPr>
          <a:xfrm>
            <a:off x="7164324" y="1993392"/>
            <a:ext cx="4311396" cy="566928"/>
          </a:xfrm>
          <a:prstGeom prst="rect">
            <a:avLst/>
          </a:prstGeom>
          <a:noFill/>
          <a:ln/>
        </p:spPr>
        <p:txBody>
          <a:bodyPr wrap="square" rtlCol="0" anchor="t"/>
          <a:lstStyle/>
          <a:p>
            <a:pPr marL="0" indent="0">
              <a:buNone/>
            </a:pPr>
            <a:r>
              <a:rPr lang="en-US" sz="1050" dirty="0">
                <a:solidFill>
                  <a:srgbClr val="5B6B79"/>
                </a:solidFill>
                <a:latin typeface="Calibri" pitchFamily="34" charset="0"/>
                <a:ea typeface="Calibri" pitchFamily="34" charset="-122"/>
                <a:cs typeface="Calibri" pitchFamily="34" charset="-120"/>
              </a:rPr>
              <a:t>requests + özel User-Agent ile HTML alınır; Trafilatura menü/footer/reklamı atıp gövde metnini çıkarır</a:t>
            </a:r>
            <a:endParaRPr lang="en-US" sz="1050" dirty="0"/>
          </a:p>
        </p:txBody>
      </p:sp>
      <p:sp>
        <p:nvSpPr>
          <p:cNvPr id="16" name="Text 11"/>
          <p:cNvSpPr/>
          <p:nvPr/>
        </p:nvSpPr>
        <p:spPr>
          <a:xfrm>
            <a:off x="6597396" y="2706624"/>
            <a:ext cx="4768596" cy="274320"/>
          </a:xfrm>
          <a:prstGeom prst="rect">
            <a:avLst/>
          </a:prstGeom>
          <a:noFill/>
          <a:ln/>
        </p:spPr>
        <p:txBody>
          <a:bodyPr wrap="square" rtlCol="0" anchor="ctr"/>
          <a:lstStyle/>
          <a:p>
            <a:pPr marL="0" indent="0">
              <a:buNone/>
            </a:pPr>
            <a:r>
              <a:rPr lang="en-US" sz="950" i="1" dirty="0">
                <a:solidFill>
                  <a:srgbClr val="1C7293"/>
                </a:solidFill>
                <a:latin typeface="Calibri" pitchFamily="34" charset="0"/>
                <a:ea typeface="Calibri" pitchFamily="34" charset="-122"/>
                <a:cs typeface="Calibri" pitchFamily="34" charset="-120"/>
              </a:rPr>
              <a:t>Neden: siteler sunucu tarafında render ediliyor, Selenium gereksiz</a:t>
            </a:r>
            <a:endParaRPr lang="en-US" sz="950" dirty="0"/>
          </a:p>
        </p:txBody>
      </p:sp>
      <p:sp>
        <p:nvSpPr>
          <p:cNvPr id="17" name="Shape 12"/>
          <p:cNvSpPr/>
          <p:nvPr/>
        </p:nvSpPr>
        <p:spPr>
          <a:xfrm>
            <a:off x="548640" y="3236976"/>
            <a:ext cx="5317236" cy="1481328"/>
          </a:xfrm>
          <a:prstGeom prst="roundRect">
            <a:avLst>
              <a:gd name="adj" fmla="val 4938"/>
            </a:avLst>
          </a:prstGeom>
          <a:solidFill>
            <a:srgbClr val="F2F6F9"/>
          </a:solidFill>
          <a:ln/>
        </p:spPr>
        <p:txBody>
          <a:bodyPr/>
          <a:lstStyle/>
          <a:p>
            <a:endParaRPr lang="tr-TR"/>
          </a:p>
        </p:txBody>
      </p:sp>
      <p:sp>
        <p:nvSpPr>
          <p:cNvPr id="18" name="Shape 13"/>
          <p:cNvSpPr/>
          <p:nvPr/>
        </p:nvSpPr>
        <p:spPr>
          <a:xfrm>
            <a:off x="749808" y="3364992"/>
            <a:ext cx="512064" cy="512064"/>
          </a:xfrm>
          <a:prstGeom prst="ellipse">
            <a:avLst/>
          </a:prstGeom>
          <a:solidFill>
            <a:srgbClr val="0B3D62"/>
          </a:solidFill>
          <a:ln/>
        </p:spPr>
        <p:txBody>
          <a:bodyPr/>
          <a:lstStyle/>
          <a:p>
            <a:endParaRPr lang="tr-TR"/>
          </a:p>
        </p:txBody>
      </p:sp>
      <p:pic>
        <p:nvPicPr>
          <p:cNvPr id="19" name="Image 3" descr="C:\Users\42ard\AppData\Local\Temp\claude\C--Users-42ard-OneDrive-Masa-st--kbbveri\4d2e7f34-33f2-41f4-86bc-c8fc0f9f0b96\scratchpad\sunum\icons\database.png"/>
          <p:cNvPicPr>
            <a:picLocks noChangeAspect="1"/>
          </p:cNvPicPr>
          <p:nvPr/>
        </p:nvPicPr>
        <p:blipFill>
          <a:blip r:embed="rId5"/>
          <a:stretch>
            <a:fillRect/>
          </a:stretch>
        </p:blipFill>
        <p:spPr>
          <a:xfrm>
            <a:off x="872703" y="3487887"/>
            <a:ext cx="266273" cy="266273"/>
          </a:xfrm>
          <a:prstGeom prst="rect">
            <a:avLst/>
          </a:prstGeom>
        </p:spPr>
      </p:pic>
      <p:sp>
        <p:nvSpPr>
          <p:cNvPr id="20" name="Text 14"/>
          <p:cNvSpPr/>
          <p:nvPr/>
        </p:nvSpPr>
        <p:spPr>
          <a:xfrm>
            <a:off x="1389888" y="3328416"/>
            <a:ext cx="4311396" cy="365760"/>
          </a:xfrm>
          <a:prstGeom prst="rect">
            <a:avLst/>
          </a:prstGeom>
          <a:noFill/>
          <a:ln/>
        </p:spPr>
        <p:txBody>
          <a:bodyPr wrap="square" rtlCol="0" anchor="b"/>
          <a:lstStyle/>
          <a:p>
            <a:pPr marL="0" indent="0">
              <a:buNone/>
            </a:pPr>
            <a:r>
              <a:rPr lang="en-US" sz="1300" b="1" dirty="0">
                <a:solidFill>
                  <a:srgbClr val="0B3D62"/>
                </a:solidFill>
                <a:latin typeface="Calibri" pitchFamily="34" charset="0"/>
                <a:ea typeface="Calibri" pitchFamily="34" charset="-122"/>
                <a:cs typeface="Calibri" pitchFamily="34" charset="-120"/>
              </a:rPr>
              <a:t>ChromaDB + çok dilli embedding</a:t>
            </a:r>
            <a:endParaRPr lang="en-US" sz="1300" dirty="0"/>
          </a:p>
        </p:txBody>
      </p:sp>
      <p:sp>
        <p:nvSpPr>
          <p:cNvPr id="21" name="Text 15"/>
          <p:cNvSpPr/>
          <p:nvPr/>
        </p:nvSpPr>
        <p:spPr>
          <a:xfrm>
            <a:off x="1389888" y="3675888"/>
            <a:ext cx="4311396" cy="566928"/>
          </a:xfrm>
          <a:prstGeom prst="rect">
            <a:avLst/>
          </a:prstGeom>
          <a:noFill/>
          <a:ln/>
        </p:spPr>
        <p:txBody>
          <a:bodyPr wrap="square" rtlCol="0" anchor="t"/>
          <a:lstStyle/>
          <a:p>
            <a:pPr marL="0" indent="0">
              <a:buNone/>
            </a:pPr>
            <a:r>
              <a:rPr lang="en-US" sz="1050" dirty="0">
                <a:solidFill>
                  <a:srgbClr val="5B6B79"/>
                </a:solidFill>
                <a:latin typeface="Calibri" pitchFamily="34" charset="0"/>
                <a:ea typeface="Calibri" pitchFamily="34" charset="-122"/>
                <a:cs typeface="Calibri" pitchFamily="34" charset="-120"/>
              </a:rPr>
              <a:t>paraphrase-multilingual-MiniLM-L12-v2</a:t>
            </a:r>
            <a:endParaRPr lang="en-US" sz="1050" dirty="0"/>
          </a:p>
        </p:txBody>
      </p:sp>
      <p:sp>
        <p:nvSpPr>
          <p:cNvPr id="22" name="Text 16"/>
          <p:cNvSpPr/>
          <p:nvPr/>
        </p:nvSpPr>
        <p:spPr>
          <a:xfrm>
            <a:off x="822960" y="4389120"/>
            <a:ext cx="4768596" cy="274320"/>
          </a:xfrm>
          <a:prstGeom prst="rect">
            <a:avLst/>
          </a:prstGeom>
          <a:noFill/>
          <a:ln/>
        </p:spPr>
        <p:txBody>
          <a:bodyPr wrap="square" rtlCol="0" anchor="ctr"/>
          <a:lstStyle/>
          <a:p>
            <a:pPr marL="0" indent="0">
              <a:buNone/>
            </a:pPr>
            <a:r>
              <a:rPr lang="en-US" sz="950" i="1" dirty="0">
                <a:solidFill>
                  <a:srgbClr val="1C7293"/>
                </a:solidFill>
                <a:latin typeface="Calibri" pitchFamily="34" charset="0"/>
                <a:ea typeface="Calibri" pitchFamily="34" charset="-122"/>
                <a:cs typeface="Calibri" pitchFamily="34" charset="-120"/>
              </a:rPr>
              <a:t>Neden: Türkçe'yi native destekliyor, hafif ve hızlı</a:t>
            </a:r>
            <a:endParaRPr lang="en-US" sz="950" dirty="0"/>
          </a:p>
        </p:txBody>
      </p:sp>
      <p:sp>
        <p:nvSpPr>
          <p:cNvPr id="23" name="Shape 17"/>
          <p:cNvSpPr/>
          <p:nvPr/>
        </p:nvSpPr>
        <p:spPr>
          <a:xfrm>
            <a:off x="6323076" y="3236976"/>
            <a:ext cx="5317236" cy="1481328"/>
          </a:xfrm>
          <a:prstGeom prst="roundRect">
            <a:avLst>
              <a:gd name="adj" fmla="val 4938"/>
            </a:avLst>
          </a:prstGeom>
          <a:solidFill>
            <a:srgbClr val="F2F6F9"/>
          </a:solidFill>
          <a:ln/>
        </p:spPr>
        <p:txBody>
          <a:bodyPr/>
          <a:lstStyle/>
          <a:p>
            <a:endParaRPr lang="tr-TR"/>
          </a:p>
        </p:txBody>
      </p:sp>
      <p:sp>
        <p:nvSpPr>
          <p:cNvPr id="24" name="Shape 18"/>
          <p:cNvSpPr/>
          <p:nvPr/>
        </p:nvSpPr>
        <p:spPr>
          <a:xfrm>
            <a:off x="6524244" y="3364992"/>
            <a:ext cx="512064" cy="512064"/>
          </a:xfrm>
          <a:prstGeom prst="ellipse">
            <a:avLst/>
          </a:prstGeom>
          <a:solidFill>
            <a:srgbClr val="0B3D62"/>
          </a:solidFill>
          <a:ln/>
        </p:spPr>
        <p:txBody>
          <a:bodyPr/>
          <a:lstStyle/>
          <a:p>
            <a:endParaRPr lang="tr-TR"/>
          </a:p>
        </p:txBody>
      </p:sp>
      <p:pic>
        <p:nvPicPr>
          <p:cNvPr id="25" name="Image 4" descr="C:\Users\42ard\AppData\Local\Temp\claude\C--Users-42ard-OneDrive-Masa-st--kbbveri\4d2e7f34-33f2-41f4-86bc-c8fc0f9f0b96\scratchpad\sunum\icons\robot.png"/>
          <p:cNvPicPr>
            <a:picLocks noChangeAspect="1"/>
          </p:cNvPicPr>
          <p:nvPr/>
        </p:nvPicPr>
        <p:blipFill>
          <a:blip r:embed="rId6"/>
          <a:stretch>
            <a:fillRect/>
          </a:stretch>
        </p:blipFill>
        <p:spPr>
          <a:xfrm>
            <a:off x="6647139" y="3487887"/>
            <a:ext cx="266273" cy="266273"/>
          </a:xfrm>
          <a:prstGeom prst="rect">
            <a:avLst/>
          </a:prstGeom>
        </p:spPr>
      </p:pic>
      <p:sp>
        <p:nvSpPr>
          <p:cNvPr id="26" name="Text 19"/>
          <p:cNvSpPr/>
          <p:nvPr/>
        </p:nvSpPr>
        <p:spPr>
          <a:xfrm>
            <a:off x="7164324" y="3328416"/>
            <a:ext cx="4311396" cy="365760"/>
          </a:xfrm>
          <a:prstGeom prst="rect">
            <a:avLst/>
          </a:prstGeom>
          <a:noFill/>
          <a:ln/>
        </p:spPr>
        <p:txBody>
          <a:bodyPr wrap="square" rtlCol="0" anchor="b"/>
          <a:lstStyle/>
          <a:p>
            <a:pPr marL="0" indent="0">
              <a:buNone/>
            </a:pPr>
            <a:r>
              <a:rPr lang="en-US" sz="1300" b="1" dirty="0">
                <a:solidFill>
                  <a:srgbClr val="0B3D62"/>
                </a:solidFill>
                <a:latin typeface="Calibri" pitchFamily="34" charset="0"/>
                <a:ea typeface="Calibri" pitchFamily="34" charset="-122"/>
                <a:cs typeface="Calibri" pitchFamily="34" charset="-120"/>
              </a:rPr>
              <a:t>İç ağ LLM ucu</a:t>
            </a:r>
            <a:endParaRPr lang="en-US" sz="1300" dirty="0"/>
          </a:p>
        </p:txBody>
      </p:sp>
      <p:sp>
        <p:nvSpPr>
          <p:cNvPr id="27" name="Text 20"/>
          <p:cNvSpPr/>
          <p:nvPr/>
        </p:nvSpPr>
        <p:spPr>
          <a:xfrm>
            <a:off x="7164324" y="3675888"/>
            <a:ext cx="4311396" cy="566928"/>
          </a:xfrm>
          <a:prstGeom prst="rect">
            <a:avLst/>
          </a:prstGeom>
          <a:noFill/>
          <a:ln/>
        </p:spPr>
        <p:txBody>
          <a:bodyPr wrap="square" rtlCol="0" anchor="t"/>
          <a:lstStyle/>
          <a:p>
            <a:pPr marL="0" indent="0">
              <a:buNone/>
            </a:pPr>
            <a:r>
              <a:rPr lang="en-US" sz="1050" dirty="0">
                <a:solidFill>
                  <a:srgbClr val="5B6B79"/>
                </a:solidFill>
                <a:latin typeface="Calibri" pitchFamily="34" charset="0"/>
                <a:ea typeface="Calibri" pitchFamily="34" charset="-122"/>
                <a:cs typeface="Calibri" pitchFamily="34" charset="-120"/>
              </a:rPr>
              <a:t>OpenAI-uyumlu istemci, izole belediye ağı</a:t>
            </a:r>
            <a:endParaRPr lang="en-US" sz="1050" dirty="0"/>
          </a:p>
        </p:txBody>
      </p:sp>
      <p:sp>
        <p:nvSpPr>
          <p:cNvPr id="28" name="Text 21"/>
          <p:cNvSpPr/>
          <p:nvPr/>
        </p:nvSpPr>
        <p:spPr>
          <a:xfrm>
            <a:off x="6597396" y="4389120"/>
            <a:ext cx="4768596" cy="274320"/>
          </a:xfrm>
          <a:prstGeom prst="rect">
            <a:avLst/>
          </a:prstGeom>
          <a:noFill/>
          <a:ln/>
        </p:spPr>
        <p:txBody>
          <a:bodyPr wrap="square" rtlCol="0" anchor="ctr"/>
          <a:lstStyle/>
          <a:p>
            <a:pPr marL="0" indent="0">
              <a:buNone/>
            </a:pPr>
            <a:r>
              <a:rPr lang="en-US" sz="950" i="1" dirty="0">
                <a:solidFill>
                  <a:srgbClr val="1C7293"/>
                </a:solidFill>
                <a:latin typeface="Calibri" pitchFamily="34" charset="0"/>
                <a:ea typeface="Calibri" pitchFamily="34" charset="-122"/>
                <a:cs typeface="Calibri" pitchFamily="34" charset="-120"/>
              </a:rPr>
              <a:t>Neden: veri dışarı çıkmıyor, güvenlik gereksinimi</a:t>
            </a:r>
            <a:endParaRPr lang="en-US" sz="950" dirty="0"/>
          </a:p>
        </p:txBody>
      </p:sp>
      <p:sp>
        <p:nvSpPr>
          <p:cNvPr id="29" name="Shape 22"/>
          <p:cNvSpPr/>
          <p:nvPr/>
        </p:nvSpPr>
        <p:spPr>
          <a:xfrm>
            <a:off x="548640" y="4919472"/>
            <a:ext cx="5317236" cy="1481328"/>
          </a:xfrm>
          <a:prstGeom prst="roundRect">
            <a:avLst>
              <a:gd name="adj" fmla="val 4938"/>
            </a:avLst>
          </a:prstGeom>
          <a:solidFill>
            <a:srgbClr val="F2F6F9"/>
          </a:solidFill>
          <a:ln/>
        </p:spPr>
        <p:txBody>
          <a:bodyPr/>
          <a:lstStyle/>
          <a:p>
            <a:endParaRPr lang="tr-TR"/>
          </a:p>
        </p:txBody>
      </p:sp>
      <p:sp>
        <p:nvSpPr>
          <p:cNvPr id="30" name="Shape 23"/>
          <p:cNvSpPr/>
          <p:nvPr/>
        </p:nvSpPr>
        <p:spPr>
          <a:xfrm>
            <a:off x="749808" y="5047488"/>
            <a:ext cx="512064" cy="512064"/>
          </a:xfrm>
          <a:prstGeom prst="ellipse">
            <a:avLst/>
          </a:prstGeom>
          <a:solidFill>
            <a:srgbClr val="0B3D62"/>
          </a:solidFill>
          <a:ln/>
        </p:spPr>
        <p:txBody>
          <a:bodyPr/>
          <a:lstStyle/>
          <a:p>
            <a:endParaRPr lang="tr-TR"/>
          </a:p>
        </p:txBody>
      </p:sp>
      <p:pic>
        <p:nvPicPr>
          <p:cNvPr id="31" name="Image 5" descr="C:\Users\42ard\AppData\Local\Temp\claude\C--Users-42ard-OneDrive-Masa-st--kbbveri\4d2e7f34-33f2-41f4-86bc-c8fc0f9f0b96\scratchpad\sunum\icons\clock.png"/>
          <p:cNvPicPr>
            <a:picLocks noChangeAspect="1"/>
          </p:cNvPicPr>
          <p:nvPr/>
        </p:nvPicPr>
        <p:blipFill>
          <a:blip r:embed="rId7"/>
          <a:stretch>
            <a:fillRect/>
          </a:stretch>
        </p:blipFill>
        <p:spPr>
          <a:xfrm>
            <a:off x="872703" y="5170383"/>
            <a:ext cx="266273" cy="266273"/>
          </a:xfrm>
          <a:prstGeom prst="rect">
            <a:avLst/>
          </a:prstGeom>
        </p:spPr>
      </p:pic>
      <p:sp>
        <p:nvSpPr>
          <p:cNvPr id="32" name="Text 24"/>
          <p:cNvSpPr/>
          <p:nvPr/>
        </p:nvSpPr>
        <p:spPr>
          <a:xfrm>
            <a:off x="1389888" y="5010912"/>
            <a:ext cx="4311396" cy="365760"/>
          </a:xfrm>
          <a:prstGeom prst="rect">
            <a:avLst/>
          </a:prstGeom>
          <a:noFill/>
          <a:ln/>
        </p:spPr>
        <p:txBody>
          <a:bodyPr wrap="square" rtlCol="0" anchor="b"/>
          <a:lstStyle/>
          <a:p>
            <a:pPr marL="0" indent="0">
              <a:buNone/>
            </a:pPr>
            <a:r>
              <a:rPr lang="en-US" sz="1300" b="1" dirty="0">
                <a:solidFill>
                  <a:srgbClr val="0B3D62"/>
                </a:solidFill>
                <a:latin typeface="Calibri" pitchFamily="34" charset="0"/>
                <a:ea typeface="Calibri" pitchFamily="34" charset="-122"/>
                <a:cs typeface="Calibri" pitchFamily="34" charset="-120"/>
              </a:rPr>
              <a:t>schedule kütüphanesi</a:t>
            </a:r>
            <a:endParaRPr lang="en-US" sz="1300" dirty="0"/>
          </a:p>
        </p:txBody>
      </p:sp>
      <p:sp>
        <p:nvSpPr>
          <p:cNvPr id="33" name="Text 25"/>
          <p:cNvSpPr/>
          <p:nvPr/>
        </p:nvSpPr>
        <p:spPr>
          <a:xfrm>
            <a:off x="1389888" y="5358384"/>
            <a:ext cx="4311396" cy="566928"/>
          </a:xfrm>
          <a:prstGeom prst="rect">
            <a:avLst/>
          </a:prstGeom>
          <a:noFill/>
          <a:ln/>
        </p:spPr>
        <p:txBody>
          <a:bodyPr wrap="square" rtlCol="0" anchor="t"/>
          <a:lstStyle/>
          <a:p>
            <a:pPr marL="0" indent="0">
              <a:buNone/>
            </a:pPr>
            <a:r>
              <a:rPr lang="en-US" sz="1050" dirty="0">
                <a:solidFill>
                  <a:srgbClr val="5B6B79"/>
                </a:solidFill>
                <a:latin typeface="Calibri" pitchFamily="34" charset="0"/>
                <a:ea typeface="Calibri" pitchFamily="34" charset="-122"/>
                <a:cs typeface="Calibri" pitchFamily="34" charset="-120"/>
              </a:rPr>
              <a:t>her gün 08:00'de otomatik çalışma</a:t>
            </a:r>
            <a:endParaRPr lang="en-US" sz="1050" dirty="0"/>
          </a:p>
        </p:txBody>
      </p:sp>
      <p:sp>
        <p:nvSpPr>
          <p:cNvPr id="34" name="Text 26"/>
          <p:cNvSpPr/>
          <p:nvPr/>
        </p:nvSpPr>
        <p:spPr>
          <a:xfrm>
            <a:off x="822960" y="6071616"/>
            <a:ext cx="4768596" cy="274320"/>
          </a:xfrm>
          <a:prstGeom prst="rect">
            <a:avLst/>
          </a:prstGeom>
          <a:noFill/>
          <a:ln/>
        </p:spPr>
        <p:txBody>
          <a:bodyPr wrap="square" rtlCol="0" anchor="ctr"/>
          <a:lstStyle/>
          <a:p>
            <a:pPr marL="0" indent="0">
              <a:buNone/>
            </a:pPr>
            <a:r>
              <a:rPr lang="en-US" sz="950" i="1" dirty="0">
                <a:solidFill>
                  <a:srgbClr val="1C7293"/>
                </a:solidFill>
                <a:latin typeface="Calibri" pitchFamily="34" charset="0"/>
                <a:ea typeface="Calibri" pitchFamily="34" charset="-122"/>
                <a:cs typeface="Calibri" pitchFamily="34" charset="-120"/>
              </a:rPr>
              <a:t>Neden: platformdan bağımsız, tek Python sürecinde kalır</a:t>
            </a:r>
            <a:endParaRPr lang="en-US" sz="950" dirty="0"/>
          </a:p>
        </p:txBody>
      </p:sp>
      <p:sp>
        <p:nvSpPr>
          <p:cNvPr id="35" name="Shape 27"/>
          <p:cNvSpPr/>
          <p:nvPr/>
        </p:nvSpPr>
        <p:spPr>
          <a:xfrm>
            <a:off x="6323076" y="4919472"/>
            <a:ext cx="5317236" cy="1481328"/>
          </a:xfrm>
          <a:prstGeom prst="roundRect">
            <a:avLst>
              <a:gd name="adj" fmla="val 4938"/>
            </a:avLst>
          </a:prstGeom>
          <a:solidFill>
            <a:srgbClr val="F2F6F9"/>
          </a:solidFill>
          <a:ln/>
        </p:spPr>
        <p:txBody>
          <a:bodyPr/>
          <a:lstStyle/>
          <a:p>
            <a:endParaRPr lang="tr-TR"/>
          </a:p>
        </p:txBody>
      </p:sp>
      <p:sp>
        <p:nvSpPr>
          <p:cNvPr id="36" name="Shape 28"/>
          <p:cNvSpPr/>
          <p:nvPr/>
        </p:nvSpPr>
        <p:spPr>
          <a:xfrm>
            <a:off x="6524244" y="5047488"/>
            <a:ext cx="512064" cy="512064"/>
          </a:xfrm>
          <a:prstGeom prst="ellipse">
            <a:avLst/>
          </a:prstGeom>
          <a:solidFill>
            <a:srgbClr val="0B3D62"/>
          </a:solidFill>
          <a:ln/>
        </p:spPr>
        <p:txBody>
          <a:bodyPr/>
          <a:lstStyle/>
          <a:p>
            <a:endParaRPr lang="tr-TR"/>
          </a:p>
        </p:txBody>
      </p:sp>
      <p:pic>
        <p:nvPicPr>
          <p:cNvPr id="37" name="Image 6" descr="C:\Users\42ard\AppData\Local\Temp\claude\C--Users-42ard-OneDrive-Masa-st--kbbveri\4d2e7f34-33f2-41f4-86bc-c8fc0f9f0b96\scratchpad\sunum\icons\file.png"/>
          <p:cNvPicPr>
            <a:picLocks noChangeAspect="1"/>
          </p:cNvPicPr>
          <p:nvPr/>
        </p:nvPicPr>
        <p:blipFill>
          <a:blip r:embed="rId8"/>
          <a:stretch>
            <a:fillRect/>
          </a:stretch>
        </p:blipFill>
        <p:spPr>
          <a:xfrm>
            <a:off x="6647139" y="5170383"/>
            <a:ext cx="266273" cy="266273"/>
          </a:xfrm>
          <a:prstGeom prst="rect">
            <a:avLst/>
          </a:prstGeom>
        </p:spPr>
      </p:pic>
      <p:sp>
        <p:nvSpPr>
          <p:cNvPr id="38" name="Text 29"/>
          <p:cNvSpPr/>
          <p:nvPr/>
        </p:nvSpPr>
        <p:spPr>
          <a:xfrm>
            <a:off x="7164324" y="5010912"/>
            <a:ext cx="4311396" cy="365760"/>
          </a:xfrm>
          <a:prstGeom prst="rect">
            <a:avLst/>
          </a:prstGeom>
          <a:noFill/>
          <a:ln/>
        </p:spPr>
        <p:txBody>
          <a:bodyPr wrap="square" rtlCol="0" anchor="b"/>
          <a:lstStyle/>
          <a:p>
            <a:pPr marL="0" indent="0">
              <a:buNone/>
            </a:pPr>
            <a:r>
              <a:rPr lang="en-US" sz="1300" b="1" dirty="0">
                <a:solidFill>
                  <a:srgbClr val="0B3D62"/>
                </a:solidFill>
                <a:latin typeface="Calibri" pitchFamily="34" charset="0"/>
                <a:ea typeface="Calibri" pitchFamily="34" charset="-122"/>
                <a:cs typeface="Calibri" pitchFamily="34" charset="-120"/>
              </a:rPr>
              <a:t>Format kararı: .md + YAML</a:t>
            </a:r>
            <a:endParaRPr lang="en-US" sz="1300" dirty="0"/>
          </a:p>
        </p:txBody>
      </p:sp>
      <p:sp>
        <p:nvSpPr>
          <p:cNvPr id="39" name="Text 30"/>
          <p:cNvSpPr/>
          <p:nvPr/>
        </p:nvSpPr>
        <p:spPr>
          <a:xfrm>
            <a:off x="7164324" y="5358384"/>
            <a:ext cx="4311396" cy="566928"/>
          </a:xfrm>
          <a:prstGeom prst="rect">
            <a:avLst/>
          </a:prstGeom>
          <a:noFill/>
          <a:ln/>
        </p:spPr>
        <p:txBody>
          <a:bodyPr wrap="square" rtlCol="0" anchor="t"/>
          <a:lstStyle/>
          <a:p>
            <a:pPr marL="0" indent="0">
              <a:buNone/>
            </a:pPr>
            <a:r>
              <a:rPr lang="en-US" sz="1050" dirty="0">
                <a:solidFill>
                  <a:srgbClr val="5B6B79"/>
                </a:solidFill>
                <a:latin typeface="Calibri" pitchFamily="34" charset="0"/>
                <a:ea typeface="Calibri" pitchFamily="34" charset="-122"/>
                <a:cs typeface="Calibri" pitchFamily="34" charset="-120"/>
              </a:rPr>
              <a:t>JSONL yerine — ekiple konuşulan, gerekçeli karar</a:t>
            </a:r>
            <a:endParaRPr lang="en-US" sz="1050" dirty="0"/>
          </a:p>
        </p:txBody>
      </p:sp>
      <p:sp>
        <p:nvSpPr>
          <p:cNvPr id="40" name="Text 31"/>
          <p:cNvSpPr/>
          <p:nvPr/>
        </p:nvSpPr>
        <p:spPr>
          <a:xfrm>
            <a:off x="6597396" y="6071616"/>
            <a:ext cx="4768596" cy="274320"/>
          </a:xfrm>
          <a:prstGeom prst="rect">
            <a:avLst/>
          </a:prstGeom>
          <a:noFill/>
          <a:ln/>
        </p:spPr>
        <p:txBody>
          <a:bodyPr wrap="square" rtlCol="0" anchor="ctr"/>
          <a:lstStyle/>
          <a:p>
            <a:pPr marL="0" indent="0">
              <a:buNone/>
            </a:pPr>
            <a:r>
              <a:rPr lang="en-US" sz="950" i="1" dirty="0">
                <a:solidFill>
                  <a:srgbClr val="1C7293"/>
                </a:solidFill>
                <a:latin typeface="Calibri" pitchFamily="34" charset="0"/>
                <a:ea typeface="Calibri" pitchFamily="34" charset="-122"/>
                <a:cs typeface="Calibri" pitchFamily="34" charset="-120"/>
              </a:rPr>
              <a:t>Neden: insan-okunabilir, gerekirse JSONL'e kolay dönüştürülür</a:t>
            </a:r>
            <a:endParaRPr lang="en-US" sz="950" dirty="0"/>
          </a:p>
        </p:txBody>
      </p:sp>
      <p:sp>
        <p:nvSpPr>
          <p:cNvPr id="41" name="Text 32"/>
          <p:cNvSpPr/>
          <p:nvPr/>
        </p:nvSpPr>
        <p:spPr>
          <a:xfrm>
            <a:off x="11338560" y="6473952"/>
            <a:ext cx="73152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731520" cy="731520"/>
          </a:xfrm>
          <a:prstGeom prst="ellipse">
            <a:avLst/>
          </a:prstGeom>
          <a:solidFill>
            <a:srgbClr val="1C7293"/>
          </a:solidFill>
          <a:ln/>
        </p:spPr>
        <p:txBody>
          <a:bodyPr/>
          <a:lstStyle/>
          <a:p>
            <a:endParaRPr lang="tr-TR"/>
          </a:p>
        </p:txBody>
      </p:sp>
      <p:pic>
        <p:nvPicPr>
          <p:cNvPr id="3" name="Image 0" descr="C:\Users\42ard\AppData\Local\Temp\claude\C--Users-42ard-OneDrive-Masa-st--kbbveri\4d2e7f34-33f2-41f4-86bc-c8fc0f9f0b96\scratchpad\sunum\icons\warning.png"/>
          <p:cNvPicPr>
            <a:picLocks noChangeAspect="1"/>
          </p:cNvPicPr>
          <p:nvPr/>
        </p:nvPicPr>
        <p:blipFill>
          <a:blip r:embed="rId3"/>
          <a:stretch>
            <a:fillRect/>
          </a:stretch>
        </p:blipFill>
        <p:spPr>
          <a:xfrm>
            <a:off x="724205" y="495605"/>
            <a:ext cx="380390" cy="380390"/>
          </a:xfrm>
          <a:prstGeom prst="rect">
            <a:avLst/>
          </a:prstGeom>
        </p:spPr>
      </p:pic>
      <p:sp>
        <p:nvSpPr>
          <p:cNvPr id="4" name="Text 1"/>
          <p:cNvSpPr/>
          <p:nvPr/>
        </p:nvSpPr>
        <p:spPr>
          <a:xfrm>
            <a:off x="1417320" y="384048"/>
            <a:ext cx="10222992" cy="603504"/>
          </a:xfrm>
          <a:prstGeom prst="rect">
            <a:avLst/>
          </a:prstGeom>
          <a:noFill/>
          <a:ln/>
        </p:spPr>
        <p:txBody>
          <a:bodyPr wrap="square" rtlCol="0" anchor="ctr"/>
          <a:lstStyle/>
          <a:p>
            <a:pPr marL="0" indent="0">
              <a:buNone/>
            </a:pPr>
            <a:r>
              <a:rPr lang="en-US" sz="3200" b="1" dirty="0">
                <a:solidFill>
                  <a:srgbClr val="0B3D62"/>
                </a:solidFill>
                <a:latin typeface="Cambria" pitchFamily="34" charset="0"/>
                <a:ea typeface="Cambria" pitchFamily="34" charset="-122"/>
                <a:cs typeface="Cambria" pitchFamily="34" charset="-120"/>
              </a:rPr>
              <a:t>Zorluklar &amp; Çözümler</a:t>
            </a:r>
            <a:endParaRPr lang="en-US" sz="3200" dirty="0"/>
          </a:p>
        </p:txBody>
      </p:sp>
      <p:sp>
        <p:nvSpPr>
          <p:cNvPr id="5" name="Shape 2"/>
          <p:cNvSpPr/>
          <p:nvPr/>
        </p:nvSpPr>
        <p:spPr>
          <a:xfrm>
            <a:off x="548640" y="1691640"/>
            <a:ext cx="5317236" cy="4206240"/>
          </a:xfrm>
          <a:prstGeom prst="roundRect">
            <a:avLst>
              <a:gd name="adj" fmla="val 2174"/>
            </a:avLst>
          </a:prstGeom>
          <a:solidFill>
            <a:srgbClr val="F2F6F9"/>
          </a:solidFill>
          <a:ln/>
        </p:spPr>
        <p:txBody>
          <a:bodyPr/>
          <a:lstStyle/>
          <a:p>
            <a:endParaRPr lang="tr-TR"/>
          </a:p>
        </p:txBody>
      </p:sp>
      <p:sp>
        <p:nvSpPr>
          <p:cNvPr id="6" name="Shape 3"/>
          <p:cNvSpPr/>
          <p:nvPr/>
        </p:nvSpPr>
        <p:spPr>
          <a:xfrm>
            <a:off x="800100" y="1897380"/>
            <a:ext cx="594360" cy="594360"/>
          </a:xfrm>
          <a:prstGeom prst="ellipse">
            <a:avLst/>
          </a:prstGeom>
          <a:solidFill>
            <a:srgbClr val="F2A541"/>
          </a:solidFill>
          <a:ln/>
        </p:spPr>
        <p:txBody>
          <a:bodyPr/>
          <a:lstStyle/>
          <a:p>
            <a:endParaRPr lang="tr-TR"/>
          </a:p>
        </p:txBody>
      </p:sp>
      <p:pic>
        <p:nvPicPr>
          <p:cNvPr id="7" name="Image 1" descr="C:\Users\42ard\AppData\Local\Temp\claude\C--Users-42ard-OneDrive-Masa-st--kbbveri\4d2e7f34-33f2-41f4-86bc-c8fc0f9f0b96\scratchpad\sunum\icons\warning.png"/>
          <p:cNvPicPr>
            <a:picLocks noChangeAspect="1"/>
          </p:cNvPicPr>
          <p:nvPr/>
        </p:nvPicPr>
        <p:blipFill>
          <a:blip r:embed="rId3"/>
          <a:stretch>
            <a:fillRect/>
          </a:stretch>
        </p:blipFill>
        <p:spPr>
          <a:xfrm>
            <a:off x="942746" y="2040026"/>
            <a:ext cx="309067" cy="309067"/>
          </a:xfrm>
          <a:prstGeom prst="rect">
            <a:avLst/>
          </a:prstGeom>
        </p:spPr>
      </p:pic>
      <p:sp>
        <p:nvSpPr>
          <p:cNvPr id="8" name="Text 4"/>
          <p:cNvSpPr/>
          <p:nvPr/>
        </p:nvSpPr>
        <p:spPr>
          <a:xfrm>
            <a:off x="1554480" y="1892808"/>
            <a:ext cx="4037076" cy="640080"/>
          </a:xfrm>
          <a:prstGeom prst="rect">
            <a:avLst/>
          </a:prstGeom>
          <a:noFill/>
          <a:ln/>
        </p:spPr>
        <p:txBody>
          <a:bodyPr wrap="square" rtlCol="0" anchor="ctr"/>
          <a:lstStyle/>
          <a:p>
            <a:pPr marL="0" indent="0">
              <a:buNone/>
            </a:pPr>
            <a:r>
              <a:rPr lang="en-US" sz="1500" b="1" dirty="0">
                <a:solidFill>
                  <a:srgbClr val="0B3D62"/>
                </a:solidFill>
                <a:latin typeface="Calibri" pitchFamily="34" charset="0"/>
                <a:ea typeface="Calibri" pitchFamily="34" charset="-122"/>
                <a:cs typeface="Calibri" pitchFamily="34" charset="-120"/>
              </a:rPr>
              <a:t>Genel sorularda yanlış kaynak</a:t>
            </a:r>
            <a:endParaRPr lang="en-US" sz="1500" dirty="0"/>
          </a:p>
        </p:txBody>
      </p:sp>
      <p:sp>
        <p:nvSpPr>
          <p:cNvPr id="9" name="Text 5"/>
          <p:cNvSpPr/>
          <p:nvPr/>
        </p:nvSpPr>
        <p:spPr>
          <a:xfrm>
            <a:off x="914400" y="2743200"/>
            <a:ext cx="4585716" cy="274320"/>
          </a:xfrm>
          <a:prstGeom prst="rect">
            <a:avLst/>
          </a:prstGeom>
          <a:noFill/>
          <a:ln/>
        </p:spPr>
        <p:txBody>
          <a:bodyPr wrap="square" rtlCol="0" anchor="ctr"/>
          <a:lstStyle/>
          <a:p>
            <a:pPr marL="0" indent="0">
              <a:buNone/>
            </a:pPr>
            <a:r>
              <a:rPr lang="en-US" sz="1100" b="1" kern="0" spc="100" dirty="0">
                <a:solidFill>
                  <a:srgbClr val="F2A541"/>
                </a:solidFill>
                <a:latin typeface="Calibri" pitchFamily="34" charset="0"/>
                <a:ea typeface="Calibri" pitchFamily="34" charset="-122"/>
                <a:cs typeface="Calibri" pitchFamily="34" charset="-120"/>
              </a:rPr>
              <a:t>SORUN</a:t>
            </a:r>
            <a:endParaRPr lang="en-US" sz="1100" dirty="0"/>
          </a:p>
        </p:txBody>
      </p:sp>
      <p:sp>
        <p:nvSpPr>
          <p:cNvPr id="10" name="Text 6"/>
          <p:cNvSpPr/>
          <p:nvPr/>
        </p:nvSpPr>
        <p:spPr>
          <a:xfrm>
            <a:off x="914400" y="3017520"/>
            <a:ext cx="4585716" cy="1280160"/>
          </a:xfrm>
          <a:prstGeom prst="rect">
            <a:avLst/>
          </a:prstGeom>
          <a:noFill/>
          <a:ln/>
        </p:spPr>
        <p:txBody>
          <a:bodyPr wrap="square" rtlCol="0" anchor="t"/>
          <a:lstStyle/>
          <a:p>
            <a:pPr marL="0" indent="0">
              <a:buNone/>
            </a:pPr>
            <a:r>
              <a:rPr lang="en-US" sz="1300" dirty="0">
                <a:solidFill>
                  <a:srgbClr val="1A2733"/>
                </a:solidFill>
                <a:latin typeface="Calibri" pitchFamily="34" charset="0"/>
                <a:ea typeface="Calibri" pitchFamily="34" charset="-122"/>
                <a:cs typeface="Calibri" pitchFamily="34" charset="-120"/>
              </a:rPr>
              <a:t>KOMEK'in onlarca farklı “kayıt” duyurusu var; genel bir soru embedding aramasında alakasız bir makaleyi öne çıkarabiliyor.</a:t>
            </a:r>
            <a:endParaRPr lang="en-US" sz="1300" dirty="0"/>
          </a:p>
        </p:txBody>
      </p:sp>
      <p:sp>
        <p:nvSpPr>
          <p:cNvPr id="11" name="Shape 7"/>
          <p:cNvSpPr/>
          <p:nvPr/>
        </p:nvSpPr>
        <p:spPr>
          <a:xfrm>
            <a:off x="868680" y="4389120"/>
            <a:ext cx="457200" cy="457200"/>
          </a:xfrm>
          <a:prstGeom prst="ellipse">
            <a:avLst/>
          </a:prstGeom>
          <a:solidFill>
            <a:srgbClr val="1C7293"/>
          </a:solidFill>
          <a:ln/>
        </p:spPr>
        <p:txBody>
          <a:bodyPr/>
          <a:lstStyle/>
          <a:p>
            <a:endParaRPr lang="tr-TR"/>
          </a:p>
        </p:txBody>
      </p:sp>
      <p:pic>
        <p:nvPicPr>
          <p:cNvPr id="12" name="Image 2" descr="C:\Users\42ard\AppData\Local\Temp\claude\C--Users-42ard-OneDrive-Masa-st--kbbveri\4d2e7f34-33f2-41f4-86bc-c8fc0f9f0b96\scratchpad\sunum\icons\check.png"/>
          <p:cNvPicPr>
            <a:picLocks noChangeAspect="1"/>
          </p:cNvPicPr>
          <p:nvPr/>
        </p:nvPicPr>
        <p:blipFill>
          <a:blip r:embed="rId4"/>
          <a:stretch>
            <a:fillRect/>
          </a:stretch>
        </p:blipFill>
        <p:spPr>
          <a:xfrm>
            <a:off x="978408" y="4498848"/>
            <a:ext cx="237744" cy="237744"/>
          </a:xfrm>
          <a:prstGeom prst="rect">
            <a:avLst/>
          </a:prstGeom>
        </p:spPr>
      </p:pic>
      <p:sp>
        <p:nvSpPr>
          <p:cNvPr id="13" name="Text 8"/>
          <p:cNvSpPr/>
          <p:nvPr/>
        </p:nvSpPr>
        <p:spPr>
          <a:xfrm>
            <a:off x="1463040" y="4434840"/>
            <a:ext cx="4128516" cy="274320"/>
          </a:xfrm>
          <a:prstGeom prst="rect">
            <a:avLst/>
          </a:prstGeom>
          <a:noFill/>
          <a:ln/>
        </p:spPr>
        <p:txBody>
          <a:bodyPr wrap="square" rtlCol="0" anchor="ctr"/>
          <a:lstStyle/>
          <a:p>
            <a:pPr marL="0" indent="0">
              <a:buNone/>
            </a:pPr>
            <a:r>
              <a:rPr lang="en-US" sz="1100" b="1" kern="0" spc="100" dirty="0">
                <a:solidFill>
                  <a:srgbClr val="1C7293"/>
                </a:solidFill>
                <a:latin typeface="Calibri" pitchFamily="34" charset="0"/>
                <a:ea typeface="Calibri" pitchFamily="34" charset="-122"/>
                <a:cs typeface="Calibri" pitchFamily="34" charset="-120"/>
              </a:rPr>
              <a:t>ÇÖZÜM / PLAN</a:t>
            </a:r>
            <a:endParaRPr lang="en-US" sz="1100" dirty="0"/>
          </a:p>
        </p:txBody>
      </p:sp>
      <p:sp>
        <p:nvSpPr>
          <p:cNvPr id="14" name="Text 9"/>
          <p:cNvSpPr/>
          <p:nvPr/>
        </p:nvSpPr>
        <p:spPr>
          <a:xfrm>
            <a:off x="1463040" y="4709160"/>
            <a:ext cx="4128516" cy="1005840"/>
          </a:xfrm>
          <a:prstGeom prst="rect">
            <a:avLst/>
          </a:prstGeom>
          <a:noFill/>
          <a:ln/>
        </p:spPr>
        <p:txBody>
          <a:bodyPr wrap="square" rtlCol="0" anchor="t"/>
          <a:lstStyle/>
          <a:p>
            <a:pPr marL="0" indent="0">
              <a:buNone/>
            </a:pPr>
            <a:r>
              <a:rPr lang="en-US" sz="1250" dirty="0">
                <a:solidFill>
                  <a:srgbClr val="1A2733"/>
                </a:solidFill>
                <a:latin typeface="Calibri" pitchFamily="34" charset="0"/>
                <a:ea typeface="Calibri" pitchFamily="34" charset="-122"/>
                <a:cs typeface="Calibri" pitchFamily="34" charset="-120"/>
              </a:rPr>
              <a:t>recall@5 ölçümü ve chunk boyutu deneyiyle ölçülüp iyileştirilecek.</a:t>
            </a:r>
            <a:endParaRPr lang="en-US" sz="1250" dirty="0"/>
          </a:p>
        </p:txBody>
      </p:sp>
      <p:sp>
        <p:nvSpPr>
          <p:cNvPr id="15" name="Shape 10"/>
          <p:cNvSpPr/>
          <p:nvPr/>
        </p:nvSpPr>
        <p:spPr>
          <a:xfrm>
            <a:off x="6323076" y="1691640"/>
            <a:ext cx="5317236" cy="4206240"/>
          </a:xfrm>
          <a:prstGeom prst="roundRect">
            <a:avLst>
              <a:gd name="adj" fmla="val 2174"/>
            </a:avLst>
          </a:prstGeom>
          <a:solidFill>
            <a:srgbClr val="F2F6F9"/>
          </a:solidFill>
          <a:ln/>
        </p:spPr>
        <p:txBody>
          <a:bodyPr/>
          <a:lstStyle/>
          <a:p>
            <a:endParaRPr lang="tr-TR"/>
          </a:p>
        </p:txBody>
      </p:sp>
      <p:sp>
        <p:nvSpPr>
          <p:cNvPr id="16" name="Shape 11"/>
          <p:cNvSpPr/>
          <p:nvPr/>
        </p:nvSpPr>
        <p:spPr>
          <a:xfrm>
            <a:off x="6574536" y="1897380"/>
            <a:ext cx="594360" cy="594360"/>
          </a:xfrm>
          <a:prstGeom prst="ellipse">
            <a:avLst/>
          </a:prstGeom>
          <a:solidFill>
            <a:srgbClr val="F2A541"/>
          </a:solidFill>
          <a:ln/>
        </p:spPr>
        <p:txBody>
          <a:bodyPr/>
          <a:lstStyle/>
          <a:p>
            <a:endParaRPr lang="tr-TR"/>
          </a:p>
        </p:txBody>
      </p:sp>
      <p:pic>
        <p:nvPicPr>
          <p:cNvPr id="17" name="Image 3" descr="C:\Users\42ard\AppData\Local\Temp\claude\C--Users-42ard-OneDrive-Masa-st--kbbveri\4d2e7f34-33f2-41f4-86bc-c8fc0f9f0b96\scratchpad\sunum\icons\warning.png"/>
          <p:cNvPicPr>
            <a:picLocks noChangeAspect="1"/>
          </p:cNvPicPr>
          <p:nvPr/>
        </p:nvPicPr>
        <p:blipFill>
          <a:blip r:embed="rId3"/>
          <a:stretch>
            <a:fillRect/>
          </a:stretch>
        </p:blipFill>
        <p:spPr>
          <a:xfrm>
            <a:off x="6717182" y="2040026"/>
            <a:ext cx="309067" cy="309067"/>
          </a:xfrm>
          <a:prstGeom prst="rect">
            <a:avLst/>
          </a:prstGeom>
        </p:spPr>
      </p:pic>
      <p:sp>
        <p:nvSpPr>
          <p:cNvPr id="18" name="Text 12"/>
          <p:cNvSpPr/>
          <p:nvPr/>
        </p:nvSpPr>
        <p:spPr>
          <a:xfrm>
            <a:off x="7328916" y="1892808"/>
            <a:ext cx="4037076" cy="640080"/>
          </a:xfrm>
          <a:prstGeom prst="rect">
            <a:avLst/>
          </a:prstGeom>
          <a:noFill/>
          <a:ln/>
        </p:spPr>
        <p:txBody>
          <a:bodyPr wrap="square" rtlCol="0" anchor="ctr"/>
          <a:lstStyle/>
          <a:p>
            <a:pPr marL="0" indent="0">
              <a:buNone/>
            </a:pPr>
            <a:r>
              <a:rPr lang="en-US" sz="1500" b="1" dirty="0">
                <a:solidFill>
                  <a:srgbClr val="0B3D62"/>
                </a:solidFill>
                <a:latin typeface="Calibri" pitchFamily="34" charset="0"/>
                <a:ea typeface="Calibri" pitchFamily="34" charset="-122"/>
                <a:cs typeface="Calibri" pitchFamily="34" charset="-120"/>
              </a:rPr>
              <a:t>KOMEK'te haber ID'leri güvenilir değil</a:t>
            </a:r>
            <a:endParaRPr lang="en-US" sz="1500" dirty="0"/>
          </a:p>
        </p:txBody>
      </p:sp>
      <p:sp>
        <p:nvSpPr>
          <p:cNvPr id="19" name="Text 13"/>
          <p:cNvSpPr/>
          <p:nvPr/>
        </p:nvSpPr>
        <p:spPr>
          <a:xfrm>
            <a:off x="6688836" y="2743200"/>
            <a:ext cx="4585716" cy="274320"/>
          </a:xfrm>
          <a:prstGeom prst="rect">
            <a:avLst/>
          </a:prstGeom>
          <a:noFill/>
          <a:ln/>
        </p:spPr>
        <p:txBody>
          <a:bodyPr wrap="square" rtlCol="0" anchor="ctr"/>
          <a:lstStyle/>
          <a:p>
            <a:pPr marL="0" indent="0">
              <a:buNone/>
            </a:pPr>
            <a:r>
              <a:rPr lang="en-US" sz="1100" b="1" kern="0" spc="100" dirty="0">
                <a:solidFill>
                  <a:srgbClr val="F2A541"/>
                </a:solidFill>
                <a:latin typeface="Calibri" pitchFamily="34" charset="0"/>
                <a:ea typeface="Calibri" pitchFamily="34" charset="-122"/>
                <a:cs typeface="Calibri" pitchFamily="34" charset="-120"/>
              </a:rPr>
              <a:t>SORUN</a:t>
            </a:r>
            <a:endParaRPr lang="en-US" sz="1100" dirty="0"/>
          </a:p>
        </p:txBody>
      </p:sp>
      <p:sp>
        <p:nvSpPr>
          <p:cNvPr id="20" name="Text 14"/>
          <p:cNvSpPr/>
          <p:nvPr/>
        </p:nvSpPr>
        <p:spPr>
          <a:xfrm>
            <a:off x="6688836" y="3017520"/>
            <a:ext cx="4585716" cy="1280160"/>
          </a:xfrm>
          <a:prstGeom prst="rect">
            <a:avLst/>
          </a:prstGeom>
          <a:noFill/>
          <a:ln/>
        </p:spPr>
        <p:txBody>
          <a:bodyPr wrap="square" rtlCol="0" anchor="t"/>
          <a:lstStyle/>
          <a:p>
            <a:pPr marL="0" indent="0">
              <a:buNone/>
            </a:pPr>
            <a:r>
              <a:rPr lang="en-US" sz="1300" dirty="0">
                <a:solidFill>
                  <a:srgbClr val="1A2733"/>
                </a:solidFill>
                <a:latin typeface="Calibri" pitchFamily="34" charset="0"/>
                <a:ea typeface="Calibri" pitchFamily="34" charset="-122"/>
                <a:cs typeface="Calibri" pitchFamily="34" charset="-120"/>
              </a:rPr>
              <a:t>Geçersiz bir HaberID hata vermiyor, hep aynı sahte sayfaya yönlendiriyor — HTTP durum kodu bu yüzden güvenilmez.</a:t>
            </a:r>
            <a:endParaRPr lang="en-US" sz="1300" dirty="0"/>
          </a:p>
        </p:txBody>
      </p:sp>
      <p:sp>
        <p:nvSpPr>
          <p:cNvPr id="21" name="Shape 15"/>
          <p:cNvSpPr/>
          <p:nvPr/>
        </p:nvSpPr>
        <p:spPr>
          <a:xfrm>
            <a:off x="6643116" y="4389120"/>
            <a:ext cx="457200" cy="457200"/>
          </a:xfrm>
          <a:prstGeom prst="ellipse">
            <a:avLst/>
          </a:prstGeom>
          <a:solidFill>
            <a:srgbClr val="1C7293"/>
          </a:solidFill>
          <a:ln/>
        </p:spPr>
        <p:txBody>
          <a:bodyPr/>
          <a:lstStyle/>
          <a:p>
            <a:endParaRPr lang="tr-TR"/>
          </a:p>
        </p:txBody>
      </p:sp>
      <p:pic>
        <p:nvPicPr>
          <p:cNvPr id="22" name="Image 4" descr="C:\Users\42ard\AppData\Local\Temp\claude\C--Users-42ard-OneDrive-Masa-st--kbbveri\4d2e7f34-33f2-41f4-86bc-c8fc0f9f0b96\scratchpad\sunum\icons\check.png"/>
          <p:cNvPicPr>
            <a:picLocks noChangeAspect="1"/>
          </p:cNvPicPr>
          <p:nvPr/>
        </p:nvPicPr>
        <p:blipFill>
          <a:blip r:embed="rId4"/>
          <a:stretch>
            <a:fillRect/>
          </a:stretch>
        </p:blipFill>
        <p:spPr>
          <a:xfrm>
            <a:off x="6752844" y="4498848"/>
            <a:ext cx="237744" cy="237744"/>
          </a:xfrm>
          <a:prstGeom prst="rect">
            <a:avLst/>
          </a:prstGeom>
        </p:spPr>
      </p:pic>
      <p:sp>
        <p:nvSpPr>
          <p:cNvPr id="23" name="Text 16"/>
          <p:cNvSpPr/>
          <p:nvPr/>
        </p:nvSpPr>
        <p:spPr>
          <a:xfrm>
            <a:off x="7237476" y="4434840"/>
            <a:ext cx="4128516" cy="274320"/>
          </a:xfrm>
          <a:prstGeom prst="rect">
            <a:avLst/>
          </a:prstGeom>
          <a:noFill/>
          <a:ln/>
        </p:spPr>
        <p:txBody>
          <a:bodyPr wrap="square" rtlCol="0" anchor="ctr"/>
          <a:lstStyle/>
          <a:p>
            <a:pPr marL="0" indent="0">
              <a:buNone/>
            </a:pPr>
            <a:r>
              <a:rPr lang="en-US" sz="1100" b="1" kern="0" spc="100" dirty="0">
                <a:solidFill>
                  <a:srgbClr val="1C7293"/>
                </a:solidFill>
                <a:latin typeface="Calibri" pitchFamily="34" charset="0"/>
                <a:ea typeface="Calibri" pitchFamily="34" charset="-122"/>
                <a:cs typeface="Calibri" pitchFamily="34" charset="-120"/>
              </a:rPr>
              <a:t>ÇÖZÜM / PLAN</a:t>
            </a:r>
            <a:endParaRPr lang="en-US" sz="1100" dirty="0"/>
          </a:p>
        </p:txBody>
      </p:sp>
      <p:sp>
        <p:nvSpPr>
          <p:cNvPr id="24" name="Text 17"/>
          <p:cNvSpPr/>
          <p:nvPr/>
        </p:nvSpPr>
        <p:spPr>
          <a:xfrm>
            <a:off x="7237476" y="4709160"/>
            <a:ext cx="4128516" cy="1005840"/>
          </a:xfrm>
          <a:prstGeom prst="rect">
            <a:avLst/>
          </a:prstGeom>
          <a:noFill/>
          <a:ln/>
        </p:spPr>
        <p:txBody>
          <a:bodyPr wrap="square" rtlCol="0" anchor="t"/>
          <a:lstStyle/>
          <a:p>
            <a:pPr marL="0" indent="0">
              <a:buNone/>
            </a:pPr>
            <a:r>
              <a:rPr lang="en-US" sz="1250" dirty="0">
                <a:solidFill>
                  <a:srgbClr val="1A2733"/>
                </a:solidFill>
                <a:latin typeface="Calibri" pitchFamily="34" charset="0"/>
                <a:ea typeface="Calibri" pitchFamily="34" charset="-122"/>
                <a:cs typeface="Calibri" pitchFamily="34" charset="-120"/>
              </a:rPr>
              <a:t>İçerik hash'iyle 'sahte sayfa' tespit ediliyor; son işlenen ID bir durum dosyasında tutulup bir sonraki çalıştırma oradan devam ediyor.</a:t>
            </a:r>
            <a:endParaRPr lang="en-US" sz="1250" dirty="0"/>
          </a:p>
        </p:txBody>
      </p:sp>
      <p:sp>
        <p:nvSpPr>
          <p:cNvPr id="25" name="Text 18"/>
          <p:cNvSpPr/>
          <p:nvPr/>
        </p:nvSpPr>
        <p:spPr>
          <a:xfrm>
            <a:off x="11338560" y="6473952"/>
            <a:ext cx="73152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D62"/>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82C48"/>
          </a:solidFill>
          <a:ln/>
        </p:spPr>
        <p:txBody>
          <a:bodyPr/>
          <a:lstStyle/>
          <a:p>
            <a:endParaRPr lang="tr-TR"/>
          </a:p>
        </p:txBody>
      </p:sp>
      <p:sp>
        <p:nvSpPr>
          <p:cNvPr id="3" name="Shape 1"/>
          <p:cNvSpPr/>
          <p:nvPr/>
        </p:nvSpPr>
        <p:spPr>
          <a:xfrm>
            <a:off x="5500116" y="1783080"/>
            <a:ext cx="1188720" cy="1188720"/>
          </a:xfrm>
          <a:prstGeom prst="ellipse">
            <a:avLst/>
          </a:prstGeom>
          <a:solidFill>
            <a:srgbClr val="1C7293"/>
          </a:solidFill>
          <a:ln/>
        </p:spPr>
        <p:txBody>
          <a:bodyPr/>
          <a:lstStyle/>
          <a:p>
            <a:endParaRPr lang="tr-TR"/>
          </a:p>
        </p:txBody>
      </p:sp>
      <p:pic>
        <p:nvPicPr>
          <p:cNvPr id="4" name="Image 0" descr="C:\Users\42ard\AppData\Local\Temp\claude\C--Users-42ard-OneDrive-Masa-st--kbbveri\4d2e7f34-33f2-41f4-86bc-c8fc0f9f0b96\scratchpad\sunum\icons\comments.png"/>
          <p:cNvPicPr>
            <a:picLocks noChangeAspect="1"/>
          </p:cNvPicPr>
          <p:nvPr/>
        </p:nvPicPr>
        <p:blipFill>
          <a:blip r:embed="rId3"/>
          <a:stretch>
            <a:fillRect/>
          </a:stretch>
        </p:blipFill>
        <p:spPr>
          <a:xfrm>
            <a:off x="5785409" y="2068373"/>
            <a:ext cx="618134" cy="618134"/>
          </a:xfrm>
          <a:prstGeom prst="rect">
            <a:avLst/>
          </a:prstGeom>
        </p:spPr>
      </p:pic>
      <p:sp>
        <p:nvSpPr>
          <p:cNvPr id="5" name="Text 2"/>
          <p:cNvSpPr/>
          <p:nvPr/>
        </p:nvSpPr>
        <p:spPr>
          <a:xfrm>
            <a:off x="0" y="3246120"/>
            <a:ext cx="12188952"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CANLI DEMO</a:t>
            </a:r>
            <a:endParaRPr lang="en-US" sz="4000" dirty="0"/>
          </a:p>
        </p:txBody>
      </p:sp>
      <p:sp>
        <p:nvSpPr>
          <p:cNvPr id="6" name="Text 3"/>
          <p:cNvSpPr/>
          <p:nvPr/>
        </p:nvSpPr>
        <p:spPr>
          <a:xfrm>
            <a:off x="0" y="4160520"/>
            <a:ext cx="12188952" cy="457200"/>
          </a:xfrm>
          <a:prstGeom prst="rect">
            <a:avLst/>
          </a:prstGeom>
          <a:noFill/>
          <a:ln/>
        </p:spPr>
        <p:txBody>
          <a:bodyPr wrap="square" rtlCol="0" anchor="ctr"/>
          <a:lstStyle/>
          <a:p>
            <a:pPr marL="0" indent="0" algn="ctr">
              <a:buNone/>
            </a:pP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731520" cy="731520"/>
          </a:xfrm>
          <a:prstGeom prst="ellipse">
            <a:avLst/>
          </a:prstGeom>
          <a:solidFill>
            <a:srgbClr val="1C7293"/>
          </a:solidFill>
          <a:ln/>
        </p:spPr>
        <p:txBody>
          <a:bodyPr/>
          <a:lstStyle/>
          <a:p>
            <a:endParaRPr lang="tr-TR"/>
          </a:p>
        </p:txBody>
      </p:sp>
      <p:pic>
        <p:nvPicPr>
          <p:cNvPr id="3" name="Image 0" descr="C:\Users\42ard\AppData\Local\Temp\claude\C--Users-42ard-OneDrive-Masa-st--kbbveri\4d2e7f34-33f2-41f4-86bc-c8fc0f9f0b96\scratchpad\sunum\icons\check.png"/>
          <p:cNvPicPr>
            <a:picLocks noChangeAspect="1"/>
          </p:cNvPicPr>
          <p:nvPr/>
        </p:nvPicPr>
        <p:blipFill>
          <a:blip r:embed="rId3"/>
          <a:stretch>
            <a:fillRect/>
          </a:stretch>
        </p:blipFill>
        <p:spPr>
          <a:xfrm>
            <a:off x="724205" y="495605"/>
            <a:ext cx="380390" cy="380390"/>
          </a:xfrm>
          <a:prstGeom prst="rect">
            <a:avLst/>
          </a:prstGeom>
        </p:spPr>
      </p:pic>
      <p:sp>
        <p:nvSpPr>
          <p:cNvPr id="4" name="Text 1"/>
          <p:cNvSpPr/>
          <p:nvPr/>
        </p:nvSpPr>
        <p:spPr>
          <a:xfrm>
            <a:off x="1417320" y="384048"/>
            <a:ext cx="10222992" cy="603504"/>
          </a:xfrm>
          <a:prstGeom prst="rect">
            <a:avLst/>
          </a:prstGeom>
          <a:noFill/>
          <a:ln/>
        </p:spPr>
        <p:txBody>
          <a:bodyPr wrap="square" rtlCol="0" anchor="ctr"/>
          <a:lstStyle/>
          <a:p>
            <a:pPr marL="0" indent="0">
              <a:buNone/>
            </a:pPr>
            <a:r>
              <a:rPr lang="en-US" sz="3200" b="1" dirty="0">
                <a:solidFill>
                  <a:srgbClr val="0B3D62"/>
                </a:solidFill>
                <a:latin typeface="Cambria" pitchFamily="34" charset="0"/>
                <a:ea typeface="Cambria" pitchFamily="34" charset="-122"/>
                <a:cs typeface="Cambria" pitchFamily="34" charset="-120"/>
              </a:rPr>
              <a:t>Durum &amp; Eksikler</a:t>
            </a:r>
            <a:endParaRPr lang="en-US" sz="3200" dirty="0"/>
          </a:p>
        </p:txBody>
      </p:sp>
      <p:sp>
        <p:nvSpPr>
          <p:cNvPr id="5" name="Shape 2"/>
          <p:cNvSpPr/>
          <p:nvPr/>
        </p:nvSpPr>
        <p:spPr>
          <a:xfrm>
            <a:off x="548640" y="1645920"/>
            <a:ext cx="5317236" cy="4297680"/>
          </a:xfrm>
          <a:prstGeom prst="roundRect">
            <a:avLst>
              <a:gd name="adj" fmla="val 2128"/>
            </a:avLst>
          </a:prstGeom>
          <a:solidFill>
            <a:srgbClr val="F2F6F9"/>
          </a:solidFill>
          <a:ln/>
        </p:spPr>
        <p:txBody>
          <a:bodyPr/>
          <a:lstStyle/>
          <a:p>
            <a:endParaRPr lang="tr-TR"/>
          </a:p>
        </p:txBody>
      </p:sp>
      <p:sp>
        <p:nvSpPr>
          <p:cNvPr id="6" name="Shape 3"/>
          <p:cNvSpPr/>
          <p:nvPr/>
        </p:nvSpPr>
        <p:spPr>
          <a:xfrm>
            <a:off x="754380" y="1851660"/>
            <a:ext cx="502920" cy="502920"/>
          </a:xfrm>
          <a:prstGeom prst="ellipse">
            <a:avLst/>
          </a:prstGeom>
          <a:solidFill>
            <a:srgbClr val="1C7293"/>
          </a:solidFill>
          <a:ln/>
        </p:spPr>
        <p:txBody>
          <a:bodyPr/>
          <a:lstStyle/>
          <a:p>
            <a:endParaRPr lang="tr-TR"/>
          </a:p>
        </p:txBody>
      </p:sp>
      <p:pic>
        <p:nvPicPr>
          <p:cNvPr id="7" name="Image 1" descr="C:\Users\42ard\AppData\Local\Temp\claude\C--Users-42ard-OneDrive-Masa-st--kbbveri\4d2e7f34-33f2-41f4-86bc-c8fc0f9f0b96\scratchpad\sunum\icons\check.png"/>
          <p:cNvPicPr>
            <a:picLocks noChangeAspect="1"/>
          </p:cNvPicPr>
          <p:nvPr/>
        </p:nvPicPr>
        <p:blipFill>
          <a:blip r:embed="rId3"/>
          <a:stretch>
            <a:fillRect/>
          </a:stretch>
        </p:blipFill>
        <p:spPr>
          <a:xfrm>
            <a:off x="875081" y="1972361"/>
            <a:ext cx="261518" cy="261518"/>
          </a:xfrm>
          <a:prstGeom prst="rect">
            <a:avLst/>
          </a:prstGeom>
        </p:spPr>
      </p:pic>
      <p:sp>
        <p:nvSpPr>
          <p:cNvPr id="8" name="Text 4"/>
          <p:cNvSpPr/>
          <p:nvPr/>
        </p:nvSpPr>
        <p:spPr>
          <a:xfrm>
            <a:off x="1371600" y="1874520"/>
            <a:ext cx="4219956" cy="457200"/>
          </a:xfrm>
          <a:prstGeom prst="rect">
            <a:avLst/>
          </a:prstGeom>
          <a:noFill/>
          <a:ln/>
        </p:spPr>
        <p:txBody>
          <a:bodyPr wrap="square" rtlCol="0" anchor="ctr"/>
          <a:lstStyle/>
          <a:p>
            <a:pPr marL="0" indent="0">
              <a:buNone/>
            </a:pPr>
            <a:r>
              <a:rPr lang="en-US" sz="1500" b="1" kern="0" spc="100" dirty="0">
                <a:solidFill>
                  <a:srgbClr val="1C7293"/>
                </a:solidFill>
                <a:latin typeface="Calibri" pitchFamily="34" charset="0"/>
                <a:ea typeface="Calibri" pitchFamily="34" charset="-122"/>
                <a:cs typeface="Calibri" pitchFamily="34" charset="-120"/>
              </a:rPr>
              <a:t>BİTTİ</a:t>
            </a:r>
            <a:endParaRPr lang="en-US" sz="1500" dirty="0"/>
          </a:p>
        </p:txBody>
      </p:sp>
      <p:sp>
        <p:nvSpPr>
          <p:cNvPr id="9" name="Text 5"/>
          <p:cNvSpPr/>
          <p:nvPr/>
        </p:nvSpPr>
        <p:spPr>
          <a:xfrm>
            <a:off x="914400" y="2606040"/>
            <a:ext cx="4585716" cy="3108960"/>
          </a:xfrm>
          <a:prstGeom prst="rect">
            <a:avLst/>
          </a:prstGeom>
          <a:noFill/>
          <a:ln/>
        </p:spPr>
        <p:txBody>
          <a:bodyPr wrap="square" rtlCol="0" anchor="t"/>
          <a:lstStyle/>
          <a:p>
            <a:pPr marL="342900" indent="-342900">
              <a:spcAft>
                <a:spcPts val="1200"/>
              </a:spcAft>
              <a:buSzPct val="100000"/>
              <a:buChar char="•"/>
            </a:pPr>
            <a:r>
              <a:rPr lang="en-US" sz="1250" dirty="0">
                <a:solidFill>
                  <a:srgbClr val="1A2733"/>
                </a:solidFill>
                <a:latin typeface="Calibri" pitchFamily="34" charset="0"/>
                <a:ea typeface="Calibri" pitchFamily="34" charset="-122"/>
                <a:cs typeface="Calibri" pitchFamily="34" charset="-120"/>
              </a:rPr>
              <a:t>7/8 kaynak adapter'ı (Mevlana / turizm sayfaları hariç)</a:t>
            </a:r>
            <a:endParaRPr lang="en-US" sz="1250" dirty="0"/>
          </a:p>
          <a:p>
            <a:pPr marL="342900" indent="-342900">
              <a:spcAft>
                <a:spcPts val="1200"/>
              </a:spcAft>
              <a:buSzPct val="100000"/>
              <a:buChar char="•"/>
            </a:pPr>
            <a:r>
              <a:rPr lang="en-US" sz="1250" dirty="0">
                <a:solidFill>
                  <a:srgbClr val="1A2733"/>
                </a:solidFill>
                <a:latin typeface="Calibri" pitchFamily="34" charset="0"/>
                <a:ea typeface="Calibri" pitchFamily="34" charset="-122"/>
                <a:cs typeface="Calibri" pitchFamily="34" charset="-120"/>
              </a:rPr>
              <a:t>Tekilleştirme + günlük otomatik servis + özet rapor</a:t>
            </a:r>
            <a:endParaRPr lang="en-US" sz="1250" dirty="0"/>
          </a:p>
          <a:p>
            <a:pPr marL="342900" indent="-342900">
              <a:spcAft>
                <a:spcPts val="1200"/>
              </a:spcAft>
              <a:buSzPct val="100000"/>
              <a:buChar char="•"/>
            </a:pPr>
            <a:r>
              <a:rPr lang="en-US" sz="1250" dirty="0">
                <a:solidFill>
                  <a:srgbClr val="1A2733"/>
                </a:solidFill>
                <a:latin typeface="Calibri" pitchFamily="34" charset="0"/>
                <a:ea typeface="Calibri" pitchFamily="34" charset="-122"/>
                <a:cs typeface="Calibri" pitchFamily="34" charset="-120"/>
              </a:rPr>
              <a:t>Vektör indeksleme + RAG soru-cevap + demo arayüz</a:t>
            </a:r>
            <a:endParaRPr lang="en-US" sz="1250" dirty="0"/>
          </a:p>
          <a:p>
            <a:pPr marL="342900" indent="-342900">
              <a:spcAft>
                <a:spcPts val="1200"/>
              </a:spcAft>
              <a:buSzPct val="100000"/>
              <a:buChar char="•"/>
            </a:pPr>
            <a:r>
              <a:rPr lang="en-US" sz="1250" dirty="0">
                <a:solidFill>
                  <a:srgbClr val="1A2733"/>
                </a:solidFill>
                <a:latin typeface="Calibri" pitchFamily="34" charset="0"/>
                <a:ea typeface="Calibri" pitchFamily="34" charset="-122"/>
                <a:cs typeface="Calibri" pitchFamily="34" charset="-120"/>
              </a:rPr>
              <a:t>tr_normalize — TDD ile yazıldı, 46 test geçiyor</a:t>
            </a:r>
            <a:endParaRPr lang="en-US" sz="1250" dirty="0"/>
          </a:p>
          <a:p>
            <a:pPr marL="342900" indent="-342900">
              <a:spcAft>
                <a:spcPts val="1200"/>
              </a:spcAft>
              <a:buSzPct val="100000"/>
              <a:buChar char="•"/>
            </a:pPr>
            <a:r>
              <a:rPr lang="en-US" sz="1250" dirty="0">
                <a:solidFill>
                  <a:srgbClr val="1A2733"/>
                </a:solidFill>
                <a:latin typeface="Calibri" pitchFamily="34" charset="0"/>
                <a:ea typeface="Calibri" pitchFamily="34" charset="-122"/>
                <a:cs typeface="Calibri" pitchFamily="34" charset="-120"/>
              </a:rPr>
              <a:t>README + requirements.txt + .env.example</a:t>
            </a:r>
            <a:endParaRPr lang="en-US" sz="1250" dirty="0"/>
          </a:p>
        </p:txBody>
      </p:sp>
      <p:sp>
        <p:nvSpPr>
          <p:cNvPr id="10" name="Shape 6"/>
          <p:cNvSpPr/>
          <p:nvPr/>
        </p:nvSpPr>
        <p:spPr>
          <a:xfrm>
            <a:off x="6323076" y="1645920"/>
            <a:ext cx="5317236" cy="4297680"/>
          </a:xfrm>
          <a:prstGeom prst="roundRect">
            <a:avLst>
              <a:gd name="adj" fmla="val 2128"/>
            </a:avLst>
          </a:prstGeom>
          <a:solidFill>
            <a:srgbClr val="F2F6F9"/>
          </a:solidFill>
          <a:ln/>
        </p:spPr>
        <p:txBody>
          <a:bodyPr/>
          <a:lstStyle/>
          <a:p>
            <a:endParaRPr lang="tr-TR"/>
          </a:p>
        </p:txBody>
      </p:sp>
      <p:sp>
        <p:nvSpPr>
          <p:cNvPr id="11" name="Shape 7"/>
          <p:cNvSpPr/>
          <p:nvPr/>
        </p:nvSpPr>
        <p:spPr>
          <a:xfrm>
            <a:off x="6528816" y="1851660"/>
            <a:ext cx="502920" cy="502920"/>
          </a:xfrm>
          <a:prstGeom prst="ellipse">
            <a:avLst/>
          </a:prstGeom>
          <a:solidFill>
            <a:srgbClr val="F2A541"/>
          </a:solidFill>
          <a:ln/>
        </p:spPr>
        <p:txBody>
          <a:bodyPr/>
          <a:lstStyle/>
          <a:p>
            <a:endParaRPr lang="tr-TR"/>
          </a:p>
        </p:txBody>
      </p:sp>
      <p:pic>
        <p:nvPicPr>
          <p:cNvPr id="12" name="Image 2" descr="C:\Users\42ard\AppData\Local\Temp\claude\C--Users-42ard-OneDrive-Masa-st--kbbveri\4d2e7f34-33f2-41f4-86bc-c8fc0f9f0b96\scratchpad\sunum\icons\hourglass.png"/>
          <p:cNvPicPr>
            <a:picLocks noChangeAspect="1"/>
          </p:cNvPicPr>
          <p:nvPr/>
        </p:nvPicPr>
        <p:blipFill>
          <a:blip r:embed="rId4"/>
          <a:stretch>
            <a:fillRect/>
          </a:stretch>
        </p:blipFill>
        <p:spPr>
          <a:xfrm>
            <a:off x="6649517" y="1972361"/>
            <a:ext cx="261518" cy="261518"/>
          </a:xfrm>
          <a:prstGeom prst="rect">
            <a:avLst/>
          </a:prstGeom>
        </p:spPr>
      </p:pic>
      <p:sp>
        <p:nvSpPr>
          <p:cNvPr id="13" name="Text 8"/>
          <p:cNvSpPr/>
          <p:nvPr/>
        </p:nvSpPr>
        <p:spPr>
          <a:xfrm>
            <a:off x="7146036" y="1874520"/>
            <a:ext cx="4219956" cy="457200"/>
          </a:xfrm>
          <a:prstGeom prst="rect">
            <a:avLst/>
          </a:prstGeom>
          <a:noFill/>
          <a:ln/>
        </p:spPr>
        <p:txBody>
          <a:bodyPr wrap="square" rtlCol="0" anchor="ctr"/>
          <a:lstStyle/>
          <a:p>
            <a:pPr marL="0" indent="0">
              <a:buNone/>
            </a:pPr>
            <a:r>
              <a:rPr lang="en-US" sz="1500" b="1" kern="0" spc="100" dirty="0">
                <a:solidFill>
                  <a:srgbClr val="F2A541"/>
                </a:solidFill>
                <a:latin typeface="Calibri" pitchFamily="34" charset="0"/>
                <a:ea typeface="Calibri" pitchFamily="34" charset="-122"/>
                <a:cs typeface="Calibri" pitchFamily="34" charset="-120"/>
              </a:rPr>
              <a:t>EKSİK / YARIM</a:t>
            </a:r>
            <a:endParaRPr lang="en-US" sz="1500" dirty="0"/>
          </a:p>
        </p:txBody>
      </p:sp>
      <p:sp>
        <p:nvSpPr>
          <p:cNvPr id="14" name="Text 9"/>
          <p:cNvSpPr/>
          <p:nvPr/>
        </p:nvSpPr>
        <p:spPr>
          <a:xfrm>
            <a:off x="6688836" y="2606040"/>
            <a:ext cx="4585716" cy="3108960"/>
          </a:xfrm>
          <a:prstGeom prst="rect">
            <a:avLst/>
          </a:prstGeom>
          <a:noFill/>
          <a:ln/>
        </p:spPr>
        <p:txBody>
          <a:bodyPr wrap="square" rtlCol="0" anchor="t"/>
          <a:lstStyle/>
          <a:p>
            <a:pPr marL="342900" indent="-342900">
              <a:spcAft>
                <a:spcPts val="1200"/>
              </a:spcAft>
              <a:buSzPct val="100000"/>
              <a:buChar char="•"/>
            </a:pPr>
            <a:r>
              <a:rPr lang="en-US" sz="1250" dirty="0">
                <a:solidFill>
                  <a:srgbClr val="1A2733"/>
                </a:solidFill>
                <a:latin typeface="Calibri" pitchFamily="34" charset="0"/>
                <a:ea typeface="Calibri" pitchFamily="34" charset="-122"/>
                <a:cs typeface="Calibri" pitchFamily="34" charset="-120"/>
              </a:rPr>
              <a:t>Mevlana / turizm sayfaları adapter'ı yok</a:t>
            </a:r>
            <a:endParaRPr lang="en-US" sz="1250" dirty="0"/>
          </a:p>
          <a:p>
            <a:pPr marL="342900" indent="-342900">
              <a:spcAft>
                <a:spcPts val="1200"/>
              </a:spcAft>
              <a:buSzPct val="100000"/>
              <a:buChar char="•"/>
            </a:pPr>
            <a:r>
              <a:rPr lang="en-US" sz="1250" dirty="0">
                <a:solidFill>
                  <a:srgbClr val="1A2733"/>
                </a:solidFill>
                <a:latin typeface="Calibri" pitchFamily="34" charset="0"/>
                <a:ea typeface="Calibri" pitchFamily="34" charset="-122"/>
                <a:cs typeface="Calibri" pitchFamily="34" charset="-120"/>
              </a:rPr>
              <a:t>recall@5 ölçümü ve chunk boyutu deneyi yapılmadı</a:t>
            </a:r>
            <a:endParaRPr lang="en-US" sz="1250" dirty="0"/>
          </a:p>
          <a:p>
            <a:pPr marL="342900" indent="-342900">
              <a:spcAft>
                <a:spcPts val="1200"/>
              </a:spcAft>
              <a:buSzPct val="100000"/>
              <a:buChar char="•"/>
            </a:pPr>
            <a:r>
              <a:rPr lang="en-US" sz="1250" dirty="0">
                <a:solidFill>
                  <a:srgbClr val="1A2733"/>
                </a:solidFill>
                <a:latin typeface="Calibri" pitchFamily="34" charset="0"/>
                <a:ea typeface="Calibri" pitchFamily="34" charset="-122"/>
                <a:cs typeface="Calibri" pitchFamily="34" charset="-120"/>
              </a:rPr>
              <a:t>Türkçe normalizasyon (fold) henüz </a:t>
            </a:r>
            <a:r>
              <a:rPr lang="en-US" sz="1250" dirty="0" err="1">
                <a:solidFill>
                  <a:srgbClr val="1A2733"/>
                </a:solidFill>
                <a:latin typeface="Calibri" pitchFamily="34" charset="0"/>
                <a:ea typeface="Calibri" pitchFamily="34" charset="-122"/>
                <a:cs typeface="Calibri" pitchFamily="34" charset="-120"/>
              </a:rPr>
              <a:t>aramaya</a:t>
            </a:r>
            <a:r>
              <a:rPr lang="en-US" sz="1250" dirty="0">
                <a:solidFill>
                  <a:srgbClr val="1A2733"/>
                </a:solidFill>
                <a:latin typeface="Calibri" pitchFamily="34" charset="0"/>
                <a:ea typeface="Calibri" pitchFamily="34" charset="-122"/>
                <a:cs typeface="Calibri" pitchFamily="34" charset="-120"/>
              </a:rPr>
              <a:t> </a:t>
            </a:r>
            <a:r>
              <a:rPr lang="en-US" sz="1250" dirty="0" err="1">
                <a:solidFill>
                  <a:srgbClr val="1A2733"/>
                </a:solidFill>
                <a:latin typeface="Calibri" pitchFamily="34" charset="0"/>
                <a:ea typeface="Calibri" pitchFamily="34" charset="-122"/>
                <a:cs typeface="Calibri" pitchFamily="34" charset="-120"/>
              </a:rPr>
              <a:t>bağlanmadı</a:t>
            </a:r>
            <a:endParaRPr lang="en-US" sz="1250" dirty="0"/>
          </a:p>
        </p:txBody>
      </p:sp>
      <p:sp>
        <p:nvSpPr>
          <p:cNvPr id="15" name="Text 10"/>
          <p:cNvSpPr/>
          <p:nvPr/>
        </p:nvSpPr>
        <p:spPr>
          <a:xfrm>
            <a:off x="11338560" y="6473952"/>
            <a:ext cx="73152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731520" cy="731520"/>
          </a:xfrm>
          <a:prstGeom prst="ellipse">
            <a:avLst/>
          </a:prstGeom>
          <a:solidFill>
            <a:srgbClr val="1C7293"/>
          </a:solidFill>
          <a:ln/>
        </p:spPr>
        <p:txBody>
          <a:bodyPr/>
          <a:lstStyle/>
          <a:p>
            <a:endParaRPr lang="tr-TR"/>
          </a:p>
        </p:txBody>
      </p:sp>
      <p:pic>
        <p:nvPicPr>
          <p:cNvPr id="3" name="Image 0" descr="C:\Users\42ard\AppData\Local\Temp\claude\C--Users-42ard-OneDrive-Masa-st--kbbveri\4d2e7f34-33f2-41f4-86bc-c8fc0f9f0b96\scratchpad\sunum\icons\rocket.png"/>
          <p:cNvPicPr>
            <a:picLocks noChangeAspect="1"/>
          </p:cNvPicPr>
          <p:nvPr/>
        </p:nvPicPr>
        <p:blipFill>
          <a:blip r:embed="rId3"/>
          <a:stretch>
            <a:fillRect/>
          </a:stretch>
        </p:blipFill>
        <p:spPr>
          <a:xfrm>
            <a:off x="724205" y="495605"/>
            <a:ext cx="380390" cy="380390"/>
          </a:xfrm>
          <a:prstGeom prst="rect">
            <a:avLst/>
          </a:prstGeom>
        </p:spPr>
      </p:pic>
      <p:sp>
        <p:nvSpPr>
          <p:cNvPr id="4" name="Text 1"/>
          <p:cNvSpPr/>
          <p:nvPr/>
        </p:nvSpPr>
        <p:spPr>
          <a:xfrm>
            <a:off x="1417320" y="384048"/>
            <a:ext cx="10222992" cy="603504"/>
          </a:xfrm>
          <a:prstGeom prst="rect">
            <a:avLst/>
          </a:prstGeom>
          <a:noFill/>
          <a:ln/>
        </p:spPr>
        <p:txBody>
          <a:bodyPr wrap="square" rtlCol="0" anchor="ctr"/>
          <a:lstStyle/>
          <a:p>
            <a:pPr marL="0" indent="0">
              <a:buNone/>
            </a:pPr>
            <a:r>
              <a:rPr lang="en-US" sz="3200" b="1" dirty="0">
                <a:solidFill>
                  <a:srgbClr val="0B3D62"/>
                </a:solidFill>
                <a:latin typeface="Cambria" pitchFamily="34" charset="0"/>
                <a:ea typeface="Cambria" pitchFamily="34" charset="-122"/>
                <a:cs typeface="Cambria" pitchFamily="34" charset="-120"/>
              </a:rPr>
              <a:t>Sıradaki Adımlar</a:t>
            </a:r>
            <a:endParaRPr lang="en-US" sz="3200" dirty="0"/>
          </a:p>
        </p:txBody>
      </p:sp>
      <p:sp>
        <p:nvSpPr>
          <p:cNvPr id="5" name="Shape 2"/>
          <p:cNvSpPr/>
          <p:nvPr/>
        </p:nvSpPr>
        <p:spPr>
          <a:xfrm>
            <a:off x="548640" y="1783080"/>
            <a:ext cx="502920" cy="502920"/>
          </a:xfrm>
          <a:prstGeom prst="ellipse">
            <a:avLst/>
          </a:prstGeom>
          <a:solidFill>
            <a:srgbClr val="F2A541"/>
          </a:solidFill>
          <a:ln/>
        </p:spPr>
        <p:txBody>
          <a:bodyPr/>
          <a:lstStyle/>
          <a:p>
            <a:endParaRPr lang="tr-TR"/>
          </a:p>
        </p:txBody>
      </p:sp>
      <p:sp>
        <p:nvSpPr>
          <p:cNvPr id="6" name="Text 3"/>
          <p:cNvSpPr/>
          <p:nvPr/>
        </p:nvSpPr>
        <p:spPr>
          <a:xfrm>
            <a:off x="54864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280160" y="1737360"/>
            <a:ext cx="10360152" cy="841248"/>
          </a:xfrm>
          <a:prstGeom prst="rect">
            <a:avLst/>
          </a:prstGeom>
          <a:noFill/>
          <a:ln/>
        </p:spPr>
        <p:txBody>
          <a:bodyPr wrap="square" rtlCol="0" anchor="ctr"/>
          <a:lstStyle/>
          <a:p>
            <a:pPr marL="0" indent="0">
              <a:buNone/>
            </a:pPr>
            <a:r>
              <a:rPr lang="en-US" sz="1500" dirty="0">
                <a:solidFill>
                  <a:srgbClr val="1A2733"/>
                </a:solidFill>
                <a:latin typeface="Calibri" pitchFamily="34" charset="0"/>
                <a:ea typeface="Calibri" pitchFamily="34" charset="-122"/>
                <a:cs typeface="Calibri" pitchFamily="34" charset="-120"/>
              </a:rPr>
              <a:t>Arama kalitesini ölç (recall@5) ve chunk boyutunu optimize et</a:t>
            </a:r>
            <a:endParaRPr lang="en-US" sz="1500" dirty="0"/>
          </a:p>
        </p:txBody>
      </p:sp>
      <p:sp>
        <p:nvSpPr>
          <p:cNvPr id="8" name="Shape 5"/>
          <p:cNvSpPr/>
          <p:nvPr/>
        </p:nvSpPr>
        <p:spPr>
          <a:xfrm>
            <a:off x="800100" y="2286000"/>
            <a:ext cx="0" cy="292608"/>
          </a:xfrm>
          <a:prstGeom prst="line">
            <a:avLst/>
          </a:prstGeom>
          <a:noFill/>
          <a:ln w="19050">
            <a:solidFill>
              <a:srgbClr val="D5DEE5"/>
            </a:solidFill>
            <a:prstDash val="solid"/>
          </a:ln>
        </p:spPr>
        <p:txBody>
          <a:bodyPr/>
          <a:lstStyle/>
          <a:p>
            <a:endParaRPr lang="tr-TR"/>
          </a:p>
        </p:txBody>
      </p:sp>
      <p:sp>
        <p:nvSpPr>
          <p:cNvPr id="9" name="Shape 6"/>
          <p:cNvSpPr/>
          <p:nvPr/>
        </p:nvSpPr>
        <p:spPr>
          <a:xfrm>
            <a:off x="548640" y="2624328"/>
            <a:ext cx="502920" cy="502920"/>
          </a:xfrm>
          <a:prstGeom prst="ellipse">
            <a:avLst/>
          </a:prstGeom>
          <a:solidFill>
            <a:srgbClr val="1C7293"/>
          </a:solidFill>
          <a:ln/>
        </p:spPr>
        <p:txBody>
          <a:bodyPr/>
          <a:lstStyle/>
          <a:p>
            <a:endParaRPr lang="tr-TR"/>
          </a:p>
        </p:txBody>
      </p:sp>
      <p:sp>
        <p:nvSpPr>
          <p:cNvPr id="10" name="Text 7"/>
          <p:cNvSpPr/>
          <p:nvPr/>
        </p:nvSpPr>
        <p:spPr>
          <a:xfrm>
            <a:off x="548640" y="2624328"/>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p:nvPr/>
        </p:nvSpPr>
        <p:spPr>
          <a:xfrm>
            <a:off x="1280160" y="2578608"/>
            <a:ext cx="10360152" cy="841248"/>
          </a:xfrm>
          <a:prstGeom prst="rect">
            <a:avLst/>
          </a:prstGeom>
          <a:noFill/>
          <a:ln/>
        </p:spPr>
        <p:txBody>
          <a:bodyPr wrap="square" rtlCol="0" anchor="ctr"/>
          <a:lstStyle/>
          <a:p>
            <a:pPr marL="0" indent="0">
              <a:buNone/>
            </a:pPr>
            <a:r>
              <a:rPr lang="en-US" sz="1500" dirty="0">
                <a:solidFill>
                  <a:srgbClr val="1A2733"/>
                </a:solidFill>
                <a:latin typeface="Calibri" pitchFamily="34" charset="0"/>
                <a:ea typeface="Calibri" pitchFamily="34" charset="-122"/>
                <a:cs typeface="Calibri" pitchFamily="34" charset="-120"/>
              </a:rPr>
              <a:t>Türkçe normalizasyonu (fold) aramaya bağla</a:t>
            </a:r>
            <a:endParaRPr lang="en-US" sz="1500" dirty="0"/>
          </a:p>
        </p:txBody>
      </p:sp>
      <p:sp>
        <p:nvSpPr>
          <p:cNvPr id="12" name="Shape 9"/>
          <p:cNvSpPr/>
          <p:nvPr/>
        </p:nvSpPr>
        <p:spPr>
          <a:xfrm>
            <a:off x="800100" y="3127248"/>
            <a:ext cx="0" cy="292608"/>
          </a:xfrm>
          <a:prstGeom prst="line">
            <a:avLst/>
          </a:prstGeom>
          <a:noFill/>
          <a:ln w="19050">
            <a:solidFill>
              <a:srgbClr val="D5DEE5"/>
            </a:solidFill>
            <a:prstDash val="solid"/>
          </a:ln>
        </p:spPr>
        <p:txBody>
          <a:bodyPr/>
          <a:lstStyle/>
          <a:p>
            <a:endParaRPr lang="tr-TR"/>
          </a:p>
        </p:txBody>
      </p:sp>
      <p:sp>
        <p:nvSpPr>
          <p:cNvPr id="13" name="Shape 10"/>
          <p:cNvSpPr/>
          <p:nvPr/>
        </p:nvSpPr>
        <p:spPr>
          <a:xfrm>
            <a:off x="548640" y="3465576"/>
            <a:ext cx="502920" cy="502920"/>
          </a:xfrm>
          <a:prstGeom prst="ellipse">
            <a:avLst/>
          </a:prstGeom>
          <a:solidFill>
            <a:srgbClr val="1C7293"/>
          </a:solidFill>
          <a:ln/>
        </p:spPr>
        <p:txBody>
          <a:bodyPr/>
          <a:lstStyle/>
          <a:p>
            <a:endParaRPr lang="tr-TR"/>
          </a:p>
        </p:txBody>
      </p:sp>
      <p:sp>
        <p:nvSpPr>
          <p:cNvPr id="14" name="Text 11"/>
          <p:cNvSpPr/>
          <p:nvPr/>
        </p:nvSpPr>
        <p:spPr>
          <a:xfrm>
            <a:off x="548640" y="3465576"/>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p:nvPr/>
        </p:nvSpPr>
        <p:spPr>
          <a:xfrm>
            <a:off x="1280160" y="3419856"/>
            <a:ext cx="10360152" cy="841248"/>
          </a:xfrm>
          <a:prstGeom prst="rect">
            <a:avLst/>
          </a:prstGeom>
          <a:noFill/>
          <a:ln/>
        </p:spPr>
        <p:txBody>
          <a:bodyPr wrap="square" rtlCol="0" anchor="ctr"/>
          <a:lstStyle/>
          <a:p>
            <a:pPr marL="0" indent="0">
              <a:buNone/>
            </a:pPr>
            <a:r>
              <a:rPr lang="en-US" sz="1500" dirty="0">
                <a:solidFill>
                  <a:srgbClr val="1A2733"/>
                </a:solidFill>
                <a:latin typeface="Calibri" pitchFamily="34" charset="0"/>
                <a:ea typeface="Calibri" pitchFamily="34" charset="-122"/>
                <a:cs typeface="Calibri" pitchFamily="34" charset="-120"/>
              </a:rPr>
              <a:t>Mevlana / turizm sayfaları adapter'ını ekle</a:t>
            </a:r>
            <a:endParaRPr lang="en-US" sz="1500" dirty="0"/>
          </a:p>
        </p:txBody>
      </p:sp>
      <p:sp>
        <p:nvSpPr>
          <p:cNvPr id="16" name="Shape 13"/>
          <p:cNvSpPr/>
          <p:nvPr/>
        </p:nvSpPr>
        <p:spPr>
          <a:xfrm>
            <a:off x="800100" y="3968496"/>
            <a:ext cx="0" cy="292608"/>
          </a:xfrm>
          <a:prstGeom prst="line">
            <a:avLst/>
          </a:prstGeom>
          <a:noFill/>
          <a:ln w="19050">
            <a:solidFill>
              <a:srgbClr val="D5DEE5"/>
            </a:solidFill>
            <a:prstDash val="solid"/>
          </a:ln>
        </p:spPr>
        <p:txBody>
          <a:bodyPr/>
          <a:lstStyle/>
          <a:p>
            <a:endParaRPr lang="tr-TR"/>
          </a:p>
        </p:txBody>
      </p:sp>
      <p:sp>
        <p:nvSpPr>
          <p:cNvPr id="17" name="Shape 14"/>
          <p:cNvSpPr/>
          <p:nvPr/>
        </p:nvSpPr>
        <p:spPr>
          <a:xfrm>
            <a:off x="548640" y="4306824"/>
            <a:ext cx="502920" cy="502920"/>
          </a:xfrm>
          <a:prstGeom prst="ellipse">
            <a:avLst/>
          </a:prstGeom>
          <a:solidFill>
            <a:srgbClr val="1C7293"/>
          </a:solidFill>
          <a:ln/>
        </p:spPr>
        <p:txBody>
          <a:bodyPr/>
          <a:lstStyle/>
          <a:p>
            <a:endParaRPr lang="tr-TR"/>
          </a:p>
        </p:txBody>
      </p:sp>
      <p:sp>
        <p:nvSpPr>
          <p:cNvPr id="18" name="Text 15"/>
          <p:cNvSpPr/>
          <p:nvPr/>
        </p:nvSpPr>
        <p:spPr>
          <a:xfrm>
            <a:off x="548640" y="4306824"/>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p:nvPr/>
        </p:nvSpPr>
        <p:spPr>
          <a:xfrm>
            <a:off x="1280160" y="4261104"/>
            <a:ext cx="10360152" cy="841248"/>
          </a:xfrm>
          <a:prstGeom prst="rect">
            <a:avLst/>
          </a:prstGeom>
          <a:noFill/>
          <a:ln/>
        </p:spPr>
        <p:txBody>
          <a:bodyPr wrap="square" rtlCol="0" anchor="ctr"/>
          <a:lstStyle/>
          <a:p>
            <a:pPr marL="0" indent="0">
              <a:buNone/>
            </a:pPr>
            <a:r>
              <a:rPr lang="en-US" sz="1500" dirty="0">
                <a:solidFill>
                  <a:srgbClr val="1A2733"/>
                </a:solidFill>
                <a:latin typeface="Calibri" pitchFamily="34" charset="0"/>
                <a:ea typeface="Calibri" pitchFamily="34" charset="-122"/>
                <a:cs typeface="Calibri" pitchFamily="34" charset="-120"/>
              </a:rPr>
              <a:t>.env git geçmişini temizle (filter-repo / BFG)</a:t>
            </a:r>
            <a:endParaRPr lang="en-US" sz="1500" dirty="0"/>
          </a:p>
        </p:txBody>
      </p:sp>
      <p:sp>
        <p:nvSpPr>
          <p:cNvPr id="20" name="Shape 17"/>
          <p:cNvSpPr/>
          <p:nvPr/>
        </p:nvSpPr>
        <p:spPr>
          <a:xfrm>
            <a:off x="800100" y="4809744"/>
            <a:ext cx="0" cy="292608"/>
          </a:xfrm>
          <a:prstGeom prst="line">
            <a:avLst/>
          </a:prstGeom>
          <a:noFill/>
          <a:ln w="19050">
            <a:solidFill>
              <a:srgbClr val="D5DEE5"/>
            </a:solidFill>
            <a:prstDash val="solid"/>
          </a:ln>
        </p:spPr>
        <p:txBody>
          <a:bodyPr/>
          <a:lstStyle/>
          <a:p>
            <a:endParaRPr lang="tr-TR"/>
          </a:p>
        </p:txBody>
      </p:sp>
      <p:sp>
        <p:nvSpPr>
          <p:cNvPr id="21" name="Shape 18"/>
          <p:cNvSpPr/>
          <p:nvPr/>
        </p:nvSpPr>
        <p:spPr>
          <a:xfrm>
            <a:off x="548640" y="5148072"/>
            <a:ext cx="502920" cy="502920"/>
          </a:xfrm>
          <a:prstGeom prst="ellipse">
            <a:avLst/>
          </a:prstGeom>
          <a:solidFill>
            <a:srgbClr val="1C7293"/>
          </a:solidFill>
          <a:ln/>
        </p:spPr>
        <p:txBody>
          <a:bodyPr/>
          <a:lstStyle/>
          <a:p>
            <a:endParaRPr lang="tr-TR"/>
          </a:p>
        </p:txBody>
      </p:sp>
      <p:sp>
        <p:nvSpPr>
          <p:cNvPr id="22" name="Text 19"/>
          <p:cNvSpPr/>
          <p:nvPr/>
        </p:nvSpPr>
        <p:spPr>
          <a:xfrm>
            <a:off x="548640" y="5148072"/>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p:nvPr/>
        </p:nvSpPr>
        <p:spPr>
          <a:xfrm>
            <a:off x="1280160" y="5102352"/>
            <a:ext cx="10360152" cy="841248"/>
          </a:xfrm>
          <a:prstGeom prst="rect">
            <a:avLst/>
          </a:prstGeom>
          <a:noFill/>
          <a:ln/>
        </p:spPr>
        <p:txBody>
          <a:bodyPr wrap="square" rtlCol="0" anchor="ctr"/>
          <a:lstStyle/>
          <a:p>
            <a:pPr marL="0" indent="0">
              <a:buNone/>
            </a:pPr>
            <a:r>
              <a:rPr lang="en-US" sz="1500" dirty="0">
                <a:solidFill>
                  <a:srgbClr val="1A2733"/>
                </a:solidFill>
                <a:latin typeface="Calibri" pitchFamily="34" charset="0"/>
                <a:ea typeface="Calibri" pitchFamily="34" charset="-122"/>
                <a:cs typeface="Calibri" pitchFamily="34" charset="-120"/>
              </a:rPr>
              <a:t>Devir dokümanını yaz — “Huna RAG'a nasıl beslenir” notu dahil</a:t>
            </a:r>
            <a:endParaRPr lang="en-US" sz="1500" dirty="0"/>
          </a:p>
        </p:txBody>
      </p:sp>
      <p:sp>
        <p:nvSpPr>
          <p:cNvPr id="24" name="Text 21"/>
          <p:cNvSpPr/>
          <p:nvPr/>
        </p:nvSpPr>
        <p:spPr>
          <a:xfrm>
            <a:off x="11338560" y="6473952"/>
            <a:ext cx="73152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D62"/>
        </a:solidFill>
        <a:effectLst/>
      </p:bgPr>
    </p:bg>
    <p:spTree>
      <p:nvGrpSpPr>
        <p:cNvPr id="1" name=""/>
        <p:cNvGrpSpPr/>
        <p:nvPr/>
      </p:nvGrpSpPr>
      <p:grpSpPr>
        <a:xfrm>
          <a:off x="0" y="0"/>
          <a:ext cx="0" cy="0"/>
          <a:chOff x="0" y="0"/>
          <a:chExt cx="0" cy="0"/>
        </a:xfrm>
      </p:grpSpPr>
      <p:sp>
        <p:nvSpPr>
          <p:cNvPr id="2" name="Shape 0"/>
          <p:cNvSpPr/>
          <p:nvPr/>
        </p:nvSpPr>
        <p:spPr>
          <a:xfrm>
            <a:off x="8686800" y="3657600"/>
            <a:ext cx="5486400" cy="5486400"/>
          </a:xfrm>
          <a:prstGeom prst="ellipse">
            <a:avLst/>
          </a:prstGeom>
          <a:solidFill>
            <a:srgbClr val="082C48"/>
          </a:solidFill>
          <a:ln/>
        </p:spPr>
        <p:txBody>
          <a:bodyPr/>
          <a:lstStyle/>
          <a:p>
            <a:endParaRPr lang="tr-TR"/>
          </a:p>
        </p:txBody>
      </p:sp>
      <p:sp>
        <p:nvSpPr>
          <p:cNvPr id="3" name="Text 1"/>
          <p:cNvSpPr/>
          <p:nvPr/>
        </p:nvSpPr>
        <p:spPr>
          <a:xfrm>
            <a:off x="0" y="2377440"/>
            <a:ext cx="12188952" cy="822960"/>
          </a:xfrm>
          <a:prstGeom prst="rect">
            <a:avLst/>
          </a:prstGeom>
          <a:noFill/>
          <a:ln/>
        </p:spPr>
        <p:txBody>
          <a:bodyPr wrap="square"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Teşekkürler</a:t>
            </a:r>
            <a:endParaRPr lang="en-US" sz="4200" dirty="0"/>
          </a:p>
        </p:txBody>
      </p:sp>
      <p:sp>
        <p:nvSpPr>
          <p:cNvPr id="4" name="Text 2"/>
          <p:cNvSpPr/>
          <p:nvPr/>
        </p:nvSpPr>
        <p:spPr>
          <a:xfrm>
            <a:off x="0" y="3200400"/>
            <a:ext cx="12188952" cy="548640"/>
          </a:xfrm>
          <a:prstGeom prst="rect">
            <a:avLst/>
          </a:prstGeom>
          <a:noFill/>
          <a:ln/>
        </p:spPr>
        <p:txBody>
          <a:bodyPr wrap="square" rtlCol="0" anchor="ctr"/>
          <a:lstStyle/>
          <a:p>
            <a:pPr marL="0" indent="0" algn="ctr">
              <a:buNone/>
            </a:pPr>
            <a:endParaRPr lang="en-US" sz="2000" dirty="0"/>
          </a:p>
        </p:txBody>
      </p:sp>
      <p:sp>
        <p:nvSpPr>
          <p:cNvPr id="5" name="Text 3"/>
          <p:cNvSpPr/>
          <p:nvPr/>
        </p:nvSpPr>
        <p:spPr>
          <a:xfrm>
            <a:off x="0" y="5943600"/>
            <a:ext cx="12188952" cy="365760"/>
          </a:xfrm>
          <a:prstGeom prst="rect">
            <a:avLst/>
          </a:prstGeom>
          <a:noFill/>
          <a:ln/>
        </p:spPr>
        <p:txBody>
          <a:bodyPr wrap="square" rtlCol="0" anchor="ctr"/>
          <a:lstStyle/>
          <a:p>
            <a:pPr marL="0" indent="0" algn="ctr">
              <a:buNone/>
            </a:pPr>
            <a:r>
              <a:rPr lang="en-US" sz="1300" dirty="0">
                <a:solidFill>
                  <a:srgbClr val="9FC3DA"/>
                </a:solidFill>
                <a:latin typeface="Calibri" pitchFamily="34" charset="0"/>
                <a:ea typeface="Calibri" pitchFamily="34" charset="-122"/>
                <a:cs typeface="Calibri" pitchFamily="34" charset="-120"/>
              </a:rPr>
              <a:t>stajyerler/data  ·  Arda Çetin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1415</Words>
  <Application>Microsoft Office PowerPoint</Application>
  <PresentationFormat>Özel</PresentationFormat>
  <Paragraphs>129</Paragraphs>
  <Slides>10</Slides>
  <Notes>10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10</vt:i4>
      </vt:variant>
    </vt:vector>
  </HeadingPairs>
  <TitlesOfParts>
    <vt:vector size="14"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arda çetin</cp:lastModifiedBy>
  <cp:revision>6</cp:revision>
  <dcterms:created xsi:type="dcterms:W3CDTF">2026-07-22T11:36:17Z</dcterms:created>
  <dcterms:modified xsi:type="dcterms:W3CDTF">2026-07-23T12:10:36Z</dcterms:modified>
</cp:coreProperties>
</file>